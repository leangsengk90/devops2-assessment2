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A2B"/>
                </a:solidFill>
                <a:latin typeface="+mn-lt"/>
              </a:defRPr>
            </a:pPr>
            <a:r>
              <a:rPr sz="1200" b="0" i="0" u="none" strike="noStrike">
                <a:solidFill>
                  <a:srgbClr val="1E1A2B"/>
                </a:solidFill>
                <a:latin typeface="+mn-lt"/>
              </a:rPr>
              <a:t>Mean minutes per phase (30 measured rebuilds)</a:t>
            </a:r>
          </a:p>
        </c:rich>
      </c:tx>
      <c:layout/>
      <c:overlay val="0"/>
    </c:title>
    <c:autoTitleDeleted val="0"/>
    <c:plotArea>
      <c:layout/>
      <c:barChart>
        <c:barDir val="bar"/>
        <c:grouping val="clustered"/>
        <c:varyColors val="0"/>
        <c:ser>
          <c:idx val="0"/>
          <c:order val="0"/>
          <c:tx>
            <c:strRef>
              <c:f>Sheet1!$B$1</c:f>
              <c:strCache>
                <c:ptCount val="1"/>
                <c:pt idx="0">
                  <c:v>GitHub Actions (n = 30)</c:v>
                </c:pt>
              </c:strCache>
            </c:strRef>
          </c:tx>
          <c:spPr>
            <a:solidFill>
              <a:srgbClr val="2A78D6"/>
            </a:solidFill>
            <a:effectLst/>
          </c:spPr>
          <c:invertIfNegative val="0"/>
          <c:dLbls>
            <c:numFmt formatCode="0.0" sourceLinked="0"/>
            <c:txPr>
              <a:bodyPr/>
              <a:lstStyle/>
              <a:p>
                <a:pPr>
                  <a:defRPr b="0" i="0" strike="noStrike" sz="800" u="none">
                    <a:solidFill>
                      <a:srgbClr val="6B6680"/>
                    </a:solidFill>
                    <a:latin typeface="+mn-lt"/>
                  </a:defRPr>
                </a:pPr>
              </a:p>
            </c:txPr>
            <c:showLegendKey val="0"/>
            <c:showVal val="1"/>
            <c:showCatName val="0"/>
            <c:showSerName val="0"/>
            <c:showPercent val="0"/>
            <c:showBubbleSize val="0"/>
            <c:showLeaderLines val="0"/>
          </c:dLbls>
          <c:cat>
            <c:multiLvlStrRef>
              <c:f>Sheet1!$A$2:$A$8</c:f>
              <c:multiLvlStrCache>
                <c:ptCount val="7"/>
                <c:lvl>
                  <c:pt idx="0">
                    <c:v>Destroy deployments</c:v>
                  </c:pt>
                  <c:pt idx="1">
                    <c:v>Destroy infrastructures</c:v>
                  </c:pt>
                  <c:pt idx="2">
                    <c:v>Destroy remote-state</c:v>
                  </c:pt>
                  <c:pt idx="3">
                    <c:v>Create remote-state</c:v>
                  </c:pt>
                  <c:pt idx="4">
                    <c:v>Create infrastructures</c:v>
                  </c:pt>
                  <c:pt idx="5">
                    <c:v>Create deployments</c:v>
                  </c:pt>
                  <c:pt idx="6">
                    <c:v>Wait until healthy</c:v>
                  </c:pt>
                </c:lvl>
              </c:multiLvlStrCache>
            </c:multiLvlStrRef>
          </c:cat>
          <c:val>
            <c:numRef>
              <c:f>Sheet1!$B$2:$B$8</c:f>
              <c:numCache>
                <c:formatCode>General</c:formatCode>
                <c:ptCount val="7"/>
                <c:pt idx="0">
                  <c:v>18.2</c:v>
                </c:pt>
                <c:pt idx="1">
                  <c:v>1.5</c:v>
                </c:pt>
                <c:pt idx="2">
                  <c:v>0.4</c:v>
                </c:pt>
                <c:pt idx="3">
                  <c:v>1.2</c:v>
                </c:pt>
                <c:pt idx="4">
                  <c:v>3.1</c:v>
                </c:pt>
                <c:pt idx="5">
                  <c:v>2.7</c:v>
                </c:pt>
                <c:pt idx="6">
                  <c:v>1.3</c:v>
                </c:pt>
              </c:numCache>
            </c:numRef>
          </c:val>
        </c:ser>
        <c:dLbls>
          <c:numFmt formatCode="0.0" sourceLinked="0"/>
          <c:txPr>
            <a:bodyPr/>
            <a:lstStyle/>
            <a:p>
              <a:pPr>
                <a:defRPr b="0" i="0" strike="noStrike" sz="800" u="none">
                  <a:solidFill>
                    <a:srgbClr val="6B668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6B668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3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66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1A2B"/>
                </a:solidFill>
                <a:latin typeface="+mn-lt"/>
              </a:defRPr>
            </a:pPr>
            <a:r>
              <a:rPr sz="1200" b="0" i="0" u="none" strike="noStrike">
                <a:solidFill>
                  <a:srgbClr val="1E1A2B"/>
                </a:solidFill>
                <a:latin typeface="+mn-lt"/>
              </a:rPr>
              <a:t>Minutes to build from empty</a:t>
            </a:r>
          </a:p>
        </c:rich>
      </c:tx>
      <c:layout/>
      <c:overlay val="0"/>
    </c:title>
    <c:autoTitleDeleted val="0"/>
    <c:plotArea>
      <c:layout/>
      <c:barChart>
        <c:barDir val="col"/>
        <c:grouping val="clustered"/>
        <c:varyColors val="0"/>
        <c:ser>
          <c:idx val="0"/>
          <c:order val="0"/>
          <c:tx>
            <c:strRef>
              <c:f>Sheet1!$B$1</c:f>
              <c:strCache>
                <c:ptCount val="1"/>
                <c:pt idx="0">
                  <c:v>Minutes to build from empty</c:v>
                </c:pt>
              </c:strCache>
            </c:strRef>
          </c:tx>
          <c:spPr>
            <a:solidFill>
              <a:srgbClr val="2A78D6"/>
            </a:solidFill>
            <a:effectLst/>
          </c:spPr>
          <c:invertIfNegative val="0"/>
          <c:dLbls>
            <c:numFmt formatCode="0.0" sourceLinked="0"/>
            <c:txPr>
              <a:bodyPr/>
              <a:lstStyle/>
              <a:p>
                <a:pPr>
                  <a:defRPr b="0" i="0" strike="noStrike" sz="1100" u="none">
                    <a:solidFill>
                      <a:srgbClr val="1E1A2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cat>
            <c:multiLvlStrRef>
              <c:f>Sheet1!$A$2:$A$3</c:f>
              <c:multiLvlStrCache>
                <c:ptCount val="2"/>
                <c:lvl>
                  <c:pt idx="0">
                    <c:v>Terraform via GitHub Actions (measured)</c:v>
                  </c:pt>
                  <c:pt idx="1">
                    <c:v>Manual AWS console (SIMULATED)</c:v>
                  </c:pt>
                </c:lvl>
              </c:multiLvlStrCache>
            </c:multiLvlStrRef>
          </c:cat>
          <c:val>
            <c:numRef>
              <c:f>Sheet1!$B$2:$B$3</c:f>
              <c:numCache>
                <c:formatCode>General</c:formatCode>
                <c:ptCount val="2"/>
                <c:pt idx="0">
                  <c:v>8.3</c:v>
                </c:pt>
                <c:pt idx="1">
                  <c:v>105.3</c:v>
                </c:pt>
              </c:numCache>
            </c:numRef>
          </c:val>
        </c:ser>
        <c:dLbls>
          <c:numFmt formatCode="0.0" sourceLinked="0"/>
          <c:txPr>
            <a:bodyPr/>
            <a:lstStyle/>
            <a:p>
              <a:pPr>
                <a:defRPr b="0" i="0" strike="noStrike" sz="1100" u="none">
                  <a:solidFill>
                    <a:srgbClr val="1E1A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6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66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study: it measured what changes when an AWS architecture moves from hand-built to Terraform run through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IaC and CI/CD matured separately; organisations often automate the app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and why it needs measurement in a specific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four research questions; RQ1-3 quantitative, RQ4 qualitative.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strands of literature and the three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manual runs were not observed; the baseline is a model and labelled as such. The planned 30 Terraform cycles were achieved: 14 were triggered by a commit and 16 by a chained workflow_dispatch, 31 run reports in total including the redeploy. Every pipeline run destroys and recreates 140 of the 152 resources; ECR repositories are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on this slide are measured from the GitHub Actions pipeline over 30 rebuilds. Building from empty took 8.3 minutes (95% CI 8.2–8.5); destroying took 20.1 minutes; a whole cycle about 28.4 minutes. Destruction, not creation, dominates: the five service stacks are destroyed one after another, about 3.6 minutes each. Services reached steady state in 89 s on average; one finance start-up in run 14 has no steady-state timestamp but answered HTTP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cycles ran over two days: 14 triggered by editing rebuild.sh and pushing, then 16 chained by a repeat option in which each run started the next. The pipeline steps were identical. Durations show no trend with run order or hour of day. The only difference detected: the back-to-back dispatched runs built about 18 seconds slower (Welch p = .019), while destroy and the total cycle did not differ. The day comparison points the same way but is not significant, so the most plausible explanation is AWS and runner conditions during the back-to-back runs. It is tiny next to the H1 gap, so the 30 cycles were pooled. Thirty cycles also match Regvart et al. (2026), so the variability comparison is like for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manual condition is simulated: Terraform is measured over 30 cycles, the manual side comes from a published, seeded model of 10 builds. The ratio is 12.6; with only the first ten Terraform cycles it was 12.9, so the extra runs do not change the decision. Even at 20 s per resource in the console, a manual build would take 55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Themes from reflexive thematic analysis of 78 commits (48 by the researcher, 30 by the pipeline), 31 run reports and the pipeline code. Theme 4 grew during the campaign: 15 commits existed only to trigger a run, and when that became tedious the answer was more automation (a repeat option chaining 16 runs), not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rtlCol="0"/>
          <a:lstStyle>
            <a:lvl1pPr algn="l" indent="0" marL="0">
              <a:buNone/>
              <a:defRPr lang="en-US" sz="2800" b="1" dirty="0">
                <a:solidFill>
                  <a:srgbClr val="221B35"/>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21B3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1"/>
          <p:cNvSpPr/>
          <p:nvPr/>
        </p:nvSpPr>
        <p:spPr>
          <a:xfrm>
            <a:off x="6949440" y="-1097280"/>
            <a:ext cx="3291840" cy="3291840"/>
          </a:xfrm>
          <a:prstGeom prst="ellipse">
            <a:avLst/>
          </a:prstGeom>
          <a:solidFill>
            <a:srgbClr val="34294F"/>
          </a:solidFill>
          <a:ln w="12700">
            <a:solidFill>
              <a:srgbClr val="34294F"/>
            </a:solidFill>
            <a:prstDash val="solid"/>
          </a:ln>
        </p:spPr>
      </p:sp>
      <p:sp>
        <p:nvSpPr>
          <p:cNvPr id="3" name="circle-2"/>
          <p:cNvSpPr/>
          <p:nvPr/>
        </p:nvSpPr>
        <p:spPr>
          <a:xfrm>
            <a:off x="7863840" y="3017520"/>
            <a:ext cx="2194560" cy="2194560"/>
          </a:xfrm>
          <a:prstGeom prst="ellipse">
            <a:avLst/>
          </a:prstGeom>
          <a:solidFill>
            <a:srgbClr val="34294F"/>
          </a:solidFill>
          <a:ln w="12700">
            <a:solidFill>
              <a:srgbClr val="34294F"/>
            </a:solidFill>
            <a:prstDash val="solid"/>
          </a:ln>
        </p:spPr>
      </p:sp>
      <p:sp>
        <p:nvSpPr>
          <p:cNvPr id="4" name="Text 2"/>
          <p:cNvSpPr txBox="1"/>
          <p:nvPr/>
        </p:nvSpPr>
        <p:spPr>
          <a:xfrm>
            <a:off x="411480" y="548640"/>
            <a:ext cx="6400800" cy="228600"/>
          </a:xfrm>
          <a:prstGeom prst="rect">
            <a:avLst/>
          </a:prstGeom>
          <a:noFill/>
          <a:ln/>
        </p:spPr>
        <p:txBody>
          <a:bodyPr wrap="square" lIns="0" tIns="0" rIns="0" bIns="0" rtlCol="0" anchor="ctr"/>
          <a:lstStyle/>
          <a:p>
            <a:pPr indent="0" marL="0">
              <a:buNone/>
            </a:pPr>
            <a:r>
              <a:rPr lang="en-US" sz="900" b="1" dirty="0">
                <a:solidFill>
                  <a:srgbClr val="E39A3B"/>
                </a:solidFill>
                <a:latin typeface="Calibri" pitchFamily="34" charset="0"/>
                <a:ea typeface="Calibri" pitchFamily="34" charset="-122"/>
                <a:cs typeface="Calibri" pitchFamily="34" charset="-120"/>
              </a:rPr>
              <a:t>MASTER OF SCIENCE IN INFORMATION TECHNOLOGY  ·  ASSESSMENT 2</a:t>
            </a:r>
            <a:endParaRPr lang="en-US" sz="900" dirty="0"/>
          </a:p>
        </p:txBody>
      </p:sp>
      <p:sp>
        <p:nvSpPr>
          <p:cNvPr id="5" name="title"/>
          <p:cNvSpPr txBox="1"/>
          <p:nvPr/>
        </p:nvSpPr>
        <p:spPr>
          <a:xfrm>
            <a:off x="411480" y="868680"/>
            <a:ext cx="6949440" cy="15087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Evaluating the Effectiveness of Terraform and GitHub Actions for AWS Infrastructure Automation</a:t>
            </a:r>
            <a:endParaRPr lang="en-US" sz="3000" dirty="0"/>
          </a:p>
        </p:txBody>
      </p:sp>
      <p:sp>
        <p:nvSpPr>
          <p:cNvPr id="6" name="Text 4"/>
          <p:cNvSpPr txBox="1"/>
          <p:nvPr/>
        </p:nvSpPr>
        <p:spPr>
          <a:xfrm>
            <a:off x="411480" y="2468880"/>
            <a:ext cx="6766560" cy="274320"/>
          </a:xfrm>
          <a:prstGeom prst="rect">
            <a:avLst/>
          </a:prstGeom>
          <a:noFill/>
          <a:ln/>
        </p:spPr>
        <p:txBody>
          <a:bodyPr wrap="square" lIns="0" tIns="0" rIns="0" bIns="0" rtlCol="0" anchor="ctr"/>
          <a:lstStyle/>
          <a:p>
            <a:pPr indent="0" marL="0">
              <a:buNone/>
            </a:pPr>
            <a:r>
              <a:rPr lang="en-US" sz="1300" i="1" dirty="0">
                <a:solidFill>
                  <a:srgbClr val="C9C2E0"/>
                </a:solidFill>
                <a:latin typeface="Calibri" pitchFamily="34" charset="0"/>
                <a:ea typeface="Calibri" pitchFamily="34" charset="-122"/>
                <a:cs typeface="Calibri" pitchFamily="34" charset="-120"/>
              </a:rPr>
              <a:t>Terraform on GitHub Actions (measured) vs manual AWS console (simulated)</a:t>
            </a:r>
            <a:endParaRPr lang="en-US" sz="1300" dirty="0"/>
          </a:p>
        </p:txBody>
      </p:sp>
      <p:sp>
        <p:nvSpPr>
          <p:cNvPr id="7" name="Text 5"/>
          <p:cNvSpPr txBox="1"/>
          <p:nvPr/>
        </p:nvSpPr>
        <p:spPr>
          <a:xfrm>
            <a:off x="411480" y="3017520"/>
            <a:ext cx="4572000" cy="77724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Calibri" pitchFamily="34" charset="0"/>
                <a:ea typeface="Calibri" pitchFamily="34" charset="-122"/>
                <a:cs typeface="Calibri" pitchFamily="34" charset="-120"/>
              </a:rPr>
              <a:t>Kao Leangseng</a:t>
            </a:r>
            <a:endParaRPr lang="en-US" sz="1300" dirty="0"/>
          </a:p>
          <a:p>
            <a:pPr indent="0" marL="0">
              <a:spcAft>
                <a:spcPts val="400"/>
              </a:spcAft>
              <a:buNone/>
            </a:pPr>
            <a:r>
              <a:rPr lang="en-US" sz="1300" dirty="0">
                <a:solidFill>
                  <a:srgbClr val="C9C2E0"/>
                </a:solidFill>
                <a:latin typeface="Calibri" pitchFamily="34" charset="0"/>
                <a:ea typeface="Calibri" pitchFamily="34" charset="-122"/>
                <a:cs typeface="Calibri" pitchFamily="34" charset="-120"/>
              </a:rPr>
              <a:t>Student ID: UPS240590</a:t>
            </a:r>
            <a:endParaRPr lang="en-US" sz="1300" dirty="0"/>
          </a:p>
          <a:p>
            <a:pPr indent="0" marL="0">
              <a:spcAft>
                <a:spcPts val="400"/>
              </a:spcAft>
              <a:buNone/>
            </a:pPr>
            <a:r>
              <a:rPr lang="en-US" sz="1300" dirty="0">
                <a:solidFill>
                  <a:srgbClr val="C9C2E0"/>
                </a:solidFill>
                <a:latin typeface="Calibri" pitchFamily="34" charset="0"/>
                <a:ea typeface="Calibri" pitchFamily="34" charset="-122"/>
                <a:cs typeface="Calibri" pitchFamily="34" charset="-120"/>
              </a:rPr>
              <a:t>Supervisor: Dr. Chen Sovann</a:t>
            </a:r>
            <a:endParaRPr lang="en-US" sz="1300" dirty="0"/>
          </a:p>
        </p:txBody>
      </p:sp>
      <p:sp>
        <p:nvSpPr>
          <p:cNvPr id="8" name="Text 6"/>
          <p:cNvSpPr txBox="1"/>
          <p:nvPr/>
        </p:nvSpPr>
        <p:spPr>
          <a:xfrm>
            <a:off x="411480" y="4251960"/>
            <a:ext cx="6400800" cy="274320"/>
          </a:xfrm>
          <a:prstGeom prst="rect">
            <a:avLst/>
          </a:prstGeom>
          <a:noFill/>
          <a:ln/>
        </p:spPr>
        <p:txBody>
          <a:bodyPr wrap="square" lIns="0" tIns="0" rIns="0" bIns="0" rtlCol="0" anchor="ctr"/>
          <a:lstStyle/>
          <a:p>
            <a:pPr indent="0" marL="0">
              <a:buNone/>
            </a:pPr>
            <a:r>
              <a:rPr lang="en-US" sz="1100" dirty="0">
                <a:solidFill>
                  <a:srgbClr val="A79FC4"/>
                </a:solidFill>
                <a:latin typeface="Calibri" pitchFamily="34" charset="0"/>
                <a:ea typeface="Calibri" pitchFamily="34" charset="-122"/>
                <a:cs typeface="Calibri" pitchFamily="34" charset="-120"/>
              </a:rPr>
              <a:t>Faculty of Science and Technology  ·  University of Puthisastra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Research Topic and Background</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02</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Text 2"/>
          <p:cNvSpPr txBox="1"/>
          <p:nvPr/>
        </p:nvSpPr>
        <p:spPr>
          <a:xfrm>
            <a:off x="411480" y="1024128"/>
            <a:ext cx="8321040" cy="320040"/>
          </a:xfrm>
          <a:prstGeom prst="rect">
            <a:avLst/>
          </a:prstGeom>
          <a:noFill/>
          <a:ln/>
        </p:spPr>
        <p:txBody>
          <a:bodyPr wrap="square" lIns="0" tIns="0" rIns="0" bIns="0" rtlCol="0" anchor="ctr"/>
          <a:lstStyle/>
          <a:p>
            <a:pPr indent="0" marL="0">
              <a:buNone/>
            </a:pPr>
            <a:r>
              <a:rPr lang="en-US" sz="1500" i="1" dirty="0">
                <a:solidFill>
                  <a:srgbClr val="6A4FA0"/>
                </a:solidFill>
                <a:latin typeface="Calibri" pitchFamily="34" charset="0"/>
                <a:ea typeface="Calibri" pitchFamily="34" charset="-122"/>
                <a:cs typeface="Calibri" pitchFamily="34" charset="-120"/>
              </a:rPr>
              <a:t>Cloud infrastructure can be built from code, but many teams still build it by hand.</a:t>
            </a:r>
            <a:endParaRPr lang="en-US" sz="1500" dirty="0"/>
          </a:p>
        </p:txBody>
      </p:sp>
      <p:sp>
        <p:nvSpPr>
          <p:cNvPr id="5" name="bg-dot0"/>
          <p:cNvSpPr/>
          <p:nvPr/>
        </p:nvSpPr>
        <p:spPr>
          <a:xfrm>
            <a:off x="411480" y="1536192"/>
            <a:ext cx="310896" cy="310896"/>
          </a:xfrm>
          <a:prstGeom prst="ellipse">
            <a:avLst/>
          </a:prstGeom>
          <a:solidFill>
            <a:srgbClr val="6A4FA0"/>
          </a:solidFill>
          <a:ln w="12700">
            <a:solidFill>
              <a:srgbClr val="6A4FA0"/>
            </a:solidFill>
            <a:prstDash val="solid"/>
          </a:ln>
        </p:spPr>
      </p:sp>
      <p:sp>
        <p:nvSpPr>
          <p:cNvPr id="6" name="bg-dot0-n"/>
          <p:cNvSpPr txBox="1"/>
          <p:nvPr/>
        </p:nvSpPr>
        <p:spPr>
          <a:xfrm>
            <a:off x="411480" y="15361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bg-h0"/>
          <p:cNvSpPr txBox="1"/>
          <p:nvPr/>
        </p:nvSpPr>
        <p:spPr>
          <a:xfrm>
            <a:off x="850392" y="1508760"/>
            <a:ext cx="420624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Infrastructure as Code (IaC)</a:t>
            </a:r>
            <a:endParaRPr lang="en-US" sz="1400" dirty="0"/>
          </a:p>
        </p:txBody>
      </p:sp>
      <p:sp>
        <p:nvSpPr>
          <p:cNvPr id="8" name="bg-s0"/>
          <p:cNvSpPr txBox="1"/>
          <p:nvPr/>
        </p:nvSpPr>
        <p:spPr>
          <a:xfrm>
            <a:off x="850392" y="1755648"/>
            <a:ext cx="420624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A file describes the network, load balancer and services; a tool such as Terraform makes AWS match it.</a:t>
            </a:r>
            <a:endParaRPr lang="en-US" sz="1150" dirty="0"/>
          </a:p>
        </p:txBody>
      </p:sp>
      <p:sp>
        <p:nvSpPr>
          <p:cNvPr id="9" name="bg-dot1"/>
          <p:cNvSpPr/>
          <p:nvPr/>
        </p:nvSpPr>
        <p:spPr>
          <a:xfrm>
            <a:off x="411480" y="2313432"/>
            <a:ext cx="310896" cy="310896"/>
          </a:xfrm>
          <a:prstGeom prst="ellipse">
            <a:avLst/>
          </a:prstGeom>
          <a:solidFill>
            <a:srgbClr val="6A4FA0"/>
          </a:solidFill>
          <a:ln w="12700">
            <a:solidFill>
              <a:srgbClr val="6A4FA0"/>
            </a:solidFill>
            <a:prstDash val="solid"/>
          </a:ln>
        </p:spPr>
      </p:sp>
      <p:sp>
        <p:nvSpPr>
          <p:cNvPr id="10" name="bg-dot1-n"/>
          <p:cNvSpPr txBox="1"/>
          <p:nvPr/>
        </p:nvSpPr>
        <p:spPr>
          <a:xfrm>
            <a:off x="411480" y="23134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bg-h1"/>
          <p:cNvSpPr txBox="1"/>
          <p:nvPr/>
        </p:nvSpPr>
        <p:spPr>
          <a:xfrm>
            <a:off x="850392" y="2286000"/>
            <a:ext cx="420624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CI/CD pipelines</a:t>
            </a:r>
            <a:endParaRPr lang="en-US" sz="1400" dirty="0"/>
          </a:p>
        </p:txBody>
      </p:sp>
      <p:sp>
        <p:nvSpPr>
          <p:cNvPr id="12" name="bg-s1"/>
          <p:cNvSpPr txBox="1"/>
          <p:nvPr/>
        </p:nvSpPr>
        <p:spPr>
          <a:xfrm>
            <a:off x="850392" y="2532888"/>
            <a:ext cx="420624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GitHub Actions already builds and ships application code automatically in most teams.</a:t>
            </a:r>
            <a:endParaRPr lang="en-US" sz="1150" dirty="0"/>
          </a:p>
        </p:txBody>
      </p:sp>
      <p:sp>
        <p:nvSpPr>
          <p:cNvPr id="13" name="bg-dot2"/>
          <p:cNvSpPr/>
          <p:nvPr/>
        </p:nvSpPr>
        <p:spPr>
          <a:xfrm>
            <a:off x="411480" y="3090672"/>
            <a:ext cx="310896" cy="310896"/>
          </a:xfrm>
          <a:prstGeom prst="ellipse">
            <a:avLst/>
          </a:prstGeom>
          <a:solidFill>
            <a:srgbClr val="6A4FA0"/>
          </a:solidFill>
          <a:ln w="12700">
            <a:solidFill>
              <a:srgbClr val="6A4FA0"/>
            </a:solidFill>
            <a:prstDash val="solid"/>
          </a:ln>
        </p:spPr>
      </p:sp>
      <p:sp>
        <p:nvSpPr>
          <p:cNvPr id="14" name="bg-dot2-n"/>
          <p:cNvSpPr txBox="1"/>
          <p:nvPr/>
        </p:nvSpPr>
        <p:spPr>
          <a:xfrm>
            <a:off x="411480" y="30906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bg-h2"/>
          <p:cNvSpPr txBox="1"/>
          <p:nvPr/>
        </p:nvSpPr>
        <p:spPr>
          <a:xfrm>
            <a:off x="850392" y="3063240"/>
            <a:ext cx="420624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The split pipeline</a:t>
            </a:r>
            <a:endParaRPr lang="en-US" sz="1400" dirty="0"/>
          </a:p>
        </p:txBody>
      </p:sp>
      <p:sp>
        <p:nvSpPr>
          <p:cNvPr id="16" name="bg-s2"/>
          <p:cNvSpPr txBox="1"/>
          <p:nvPr/>
        </p:nvSpPr>
        <p:spPr>
          <a:xfrm>
            <a:off x="850392" y="3310128"/>
            <a:ext cx="420624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Application delivery is automated, but the environment it runs on is still changed through the console.</a:t>
            </a:r>
            <a:endParaRPr lang="en-US" sz="1150" dirty="0"/>
          </a:p>
        </p:txBody>
      </p:sp>
      <p:sp>
        <p:nvSpPr>
          <p:cNvPr id="17" name="bg-dot3"/>
          <p:cNvSpPr/>
          <p:nvPr/>
        </p:nvSpPr>
        <p:spPr>
          <a:xfrm>
            <a:off x="411480" y="3867912"/>
            <a:ext cx="310896" cy="310896"/>
          </a:xfrm>
          <a:prstGeom prst="ellipse">
            <a:avLst/>
          </a:prstGeom>
          <a:solidFill>
            <a:srgbClr val="6A4FA0"/>
          </a:solidFill>
          <a:ln w="12700">
            <a:solidFill>
              <a:srgbClr val="6A4FA0"/>
            </a:solidFill>
            <a:prstDash val="solid"/>
          </a:ln>
        </p:spPr>
      </p:sp>
      <p:sp>
        <p:nvSpPr>
          <p:cNvPr id="18" name="bg-dot3-n"/>
          <p:cNvSpPr txBox="1"/>
          <p:nvPr/>
        </p:nvSpPr>
        <p:spPr>
          <a:xfrm>
            <a:off x="411480" y="38679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bg-h3"/>
          <p:cNvSpPr txBox="1"/>
          <p:nvPr/>
        </p:nvSpPr>
        <p:spPr>
          <a:xfrm>
            <a:off x="850392" y="3840480"/>
            <a:ext cx="420624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Why Cambodia</a:t>
            </a:r>
            <a:endParaRPr lang="en-US" sz="1400" dirty="0"/>
          </a:p>
        </p:txBody>
      </p:sp>
      <p:sp>
        <p:nvSpPr>
          <p:cNvPr id="20" name="bg-s3"/>
          <p:cNvSpPr txBox="1"/>
          <p:nvPr/>
        </p:nvSpPr>
        <p:spPr>
          <a:xfrm>
            <a:off x="850392" y="4087368"/>
            <a:ext cx="420624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Banks supervised by the National Bank of Cambodia need auditable change. No local IaC evidence exists.</a:t>
            </a:r>
            <a:endParaRPr lang="en-US" sz="1150" dirty="0"/>
          </a:p>
        </p:txBody>
      </p:sp>
      <p:sp>
        <p:nvSpPr>
          <p:cNvPr id="21" name="c1-card"/>
          <p:cNvSpPr/>
          <p:nvPr/>
        </p:nvSpPr>
        <p:spPr>
          <a:xfrm>
            <a:off x="5486400" y="1508760"/>
            <a:ext cx="3200400" cy="1143000"/>
          </a:xfrm>
          <a:prstGeom prst="roundRect">
            <a:avLst>
              <a:gd name="adj" fmla="val 6400"/>
            </a:avLst>
          </a:prstGeom>
          <a:solidFill>
            <a:srgbClr val="F1F0F7"/>
          </a:solidFill>
          <a:ln w="12700">
            <a:solidFill>
              <a:srgbClr val="F1F0F7"/>
            </a:solidFill>
            <a:prstDash val="solid"/>
          </a:ln>
        </p:spPr>
      </p:sp>
      <p:sp>
        <p:nvSpPr>
          <p:cNvPr id="22" name="c1-num"/>
          <p:cNvSpPr txBox="1"/>
          <p:nvPr/>
        </p:nvSpPr>
        <p:spPr>
          <a:xfrm>
            <a:off x="5650992" y="1600200"/>
            <a:ext cx="2926080"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253 s</a:t>
            </a:r>
            <a:endParaRPr lang="en-US" sz="2800" dirty="0"/>
          </a:p>
        </p:txBody>
      </p:sp>
      <p:sp>
        <p:nvSpPr>
          <p:cNvPr id="23" name="c1-label"/>
          <p:cNvSpPr txBox="1"/>
          <p:nvPr/>
        </p:nvSpPr>
        <p:spPr>
          <a:xfrm>
            <a:off x="5650992" y="2112264"/>
            <a:ext cx="2926080"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Terraform build in prior work</a:t>
            </a:r>
            <a:endParaRPr lang="en-US" sz="1300" dirty="0"/>
          </a:p>
        </p:txBody>
      </p:sp>
      <p:sp>
        <p:nvSpPr>
          <p:cNvPr id="24" name="c1-sub"/>
          <p:cNvSpPr txBox="1"/>
          <p:nvPr/>
        </p:nvSpPr>
        <p:spPr>
          <a:xfrm>
            <a:off x="5650992" y="2359152"/>
            <a:ext cx="2926080"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Regvart et al. (2026), smaller architecture</a:t>
            </a:r>
            <a:endParaRPr lang="en-US" sz="1050" dirty="0"/>
          </a:p>
        </p:txBody>
      </p:sp>
      <p:sp>
        <p:nvSpPr>
          <p:cNvPr id="25" name="c2-card"/>
          <p:cNvSpPr/>
          <p:nvPr/>
        </p:nvSpPr>
        <p:spPr>
          <a:xfrm>
            <a:off x="5486400" y="2788920"/>
            <a:ext cx="3200400" cy="1143000"/>
          </a:xfrm>
          <a:prstGeom prst="roundRect">
            <a:avLst>
              <a:gd name="adj" fmla="val 6400"/>
            </a:avLst>
          </a:prstGeom>
          <a:solidFill>
            <a:srgbClr val="F1F0F7"/>
          </a:solidFill>
          <a:ln w="12700">
            <a:solidFill>
              <a:srgbClr val="F1F0F7"/>
            </a:solidFill>
            <a:prstDash val="solid"/>
          </a:ln>
        </p:spPr>
      </p:sp>
      <p:sp>
        <p:nvSpPr>
          <p:cNvPr id="26" name="c2-num"/>
          <p:cNvSpPr txBox="1"/>
          <p:nvPr/>
        </p:nvSpPr>
        <p:spPr>
          <a:xfrm>
            <a:off x="5650992" y="2880360"/>
            <a:ext cx="2926080"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43.9%</a:t>
            </a:r>
            <a:endParaRPr lang="en-US" sz="2800" dirty="0"/>
          </a:p>
        </p:txBody>
      </p:sp>
      <p:sp>
        <p:nvSpPr>
          <p:cNvPr id="27" name="c2-label"/>
          <p:cNvSpPr txBox="1"/>
          <p:nvPr/>
        </p:nvSpPr>
        <p:spPr>
          <a:xfrm>
            <a:off x="5650992" y="3392424"/>
            <a:ext cx="2926080"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of active repos use GitHub Actions</a:t>
            </a:r>
            <a:endParaRPr lang="en-US" sz="1300" dirty="0"/>
          </a:p>
        </p:txBody>
      </p:sp>
      <p:sp>
        <p:nvSpPr>
          <p:cNvPr id="28" name="c2-sub"/>
          <p:cNvSpPr txBox="1"/>
          <p:nvPr/>
        </p:nvSpPr>
        <p:spPr>
          <a:xfrm>
            <a:off x="5650992" y="3639312"/>
            <a:ext cx="2926080"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Decan et al. (2022), 69,147 repositories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Research Problem</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03</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Text 2"/>
          <p:cNvSpPr txBox="1"/>
          <p:nvPr/>
        </p:nvSpPr>
        <p:spPr>
          <a:xfrm>
            <a:off x="411480" y="1024128"/>
            <a:ext cx="8321040" cy="457200"/>
          </a:xfrm>
          <a:prstGeom prst="rect">
            <a:avLst/>
          </a:prstGeom>
          <a:noFill/>
          <a:ln/>
        </p:spPr>
        <p:txBody>
          <a:bodyPr wrap="square" lIns="0" tIns="0" rIns="0" bIns="0" rtlCol="0" anchor="ctr"/>
          <a:lstStyle/>
          <a:p>
            <a:pPr indent="0" marL="0">
              <a:buNone/>
            </a:pPr>
            <a:r>
              <a:rPr lang="en-US" sz="1500" i="1" dirty="0">
                <a:solidFill>
                  <a:srgbClr val="6A4FA0"/>
                </a:solidFill>
                <a:latin typeface="Calibri" pitchFamily="34" charset="0"/>
                <a:ea typeface="Calibri" pitchFamily="34" charset="-122"/>
                <a:cs typeface="Calibri" pitchFamily="34" charset="-120"/>
              </a:rPr>
              <a:t>The pipeline automated the application. The AWS environment it deployed into was created and changed by hand.</a:t>
            </a:r>
            <a:endParaRPr lang="en-US" sz="1500" dirty="0"/>
          </a:p>
        </p:txBody>
      </p:sp>
      <p:sp>
        <p:nvSpPr>
          <p:cNvPr id="5" name="p0"/>
          <p:cNvSpPr/>
          <p:nvPr/>
        </p:nvSpPr>
        <p:spPr>
          <a:xfrm>
            <a:off x="411480" y="1691640"/>
            <a:ext cx="2624328" cy="1600200"/>
          </a:xfrm>
          <a:prstGeom prst="roundRect">
            <a:avLst>
              <a:gd name="adj" fmla="val 4571"/>
            </a:avLst>
          </a:prstGeom>
          <a:solidFill>
            <a:srgbClr val="F1F0F7"/>
          </a:solidFill>
          <a:ln w="12700">
            <a:solidFill>
              <a:srgbClr val="F1F0F7"/>
            </a:solidFill>
            <a:prstDash val="solid"/>
          </a:ln>
        </p:spPr>
      </p:sp>
      <p:sp>
        <p:nvSpPr>
          <p:cNvPr id="6" name="pd0"/>
          <p:cNvSpPr/>
          <p:nvPr/>
        </p:nvSpPr>
        <p:spPr>
          <a:xfrm>
            <a:off x="594360" y="1856232"/>
            <a:ext cx="310896" cy="310896"/>
          </a:xfrm>
          <a:prstGeom prst="ellipse">
            <a:avLst/>
          </a:prstGeom>
          <a:solidFill>
            <a:srgbClr val="6A4FA0"/>
          </a:solidFill>
          <a:ln w="12700">
            <a:solidFill>
              <a:srgbClr val="6A4FA0"/>
            </a:solidFill>
            <a:prstDash val="solid"/>
          </a:ln>
        </p:spPr>
      </p:sp>
      <p:sp>
        <p:nvSpPr>
          <p:cNvPr id="7" name="pd0-n"/>
          <p:cNvSpPr txBox="1"/>
          <p:nvPr/>
        </p:nvSpPr>
        <p:spPr>
          <a:xfrm>
            <a:off x="594360" y="18562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594360" y="2258568"/>
            <a:ext cx="2286000" cy="274320"/>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No audit trail</a:t>
            </a:r>
            <a:endParaRPr lang="en-US" sz="1400" dirty="0"/>
          </a:p>
        </p:txBody>
      </p:sp>
      <p:sp>
        <p:nvSpPr>
          <p:cNvPr id="9" name="Text 7"/>
          <p:cNvSpPr txBox="1"/>
          <p:nvPr/>
        </p:nvSpPr>
        <p:spPr>
          <a:xfrm>
            <a:off x="594360" y="2560320"/>
            <a:ext cx="2286000" cy="64008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Nobody can see who changed the network, load balancer or IAM, when, or why.</a:t>
            </a:r>
            <a:endParaRPr lang="en-US" sz="1150" dirty="0"/>
          </a:p>
        </p:txBody>
      </p:sp>
      <p:sp>
        <p:nvSpPr>
          <p:cNvPr id="10" name="p1"/>
          <p:cNvSpPr/>
          <p:nvPr/>
        </p:nvSpPr>
        <p:spPr>
          <a:xfrm>
            <a:off x="3218688" y="1691640"/>
            <a:ext cx="2624328" cy="1600200"/>
          </a:xfrm>
          <a:prstGeom prst="roundRect">
            <a:avLst>
              <a:gd name="adj" fmla="val 4571"/>
            </a:avLst>
          </a:prstGeom>
          <a:solidFill>
            <a:srgbClr val="F1F0F7"/>
          </a:solidFill>
          <a:ln w="12700">
            <a:solidFill>
              <a:srgbClr val="F1F0F7"/>
            </a:solidFill>
            <a:prstDash val="solid"/>
          </a:ln>
        </p:spPr>
      </p:sp>
      <p:sp>
        <p:nvSpPr>
          <p:cNvPr id="11" name="pd1"/>
          <p:cNvSpPr/>
          <p:nvPr/>
        </p:nvSpPr>
        <p:spPr>
          <a:xfrm>
            <a:off x="3401568" y="1856232"/>
            <a:ext cx="310896" cy="310896"/>
          </a:xfrm>
          <a:prstGeom prst="ellipse">
            <a:avLst/>
          </a:prstGeom>
          <a:solidFill>
            <a:srgbClr val="6A4FA0"/>
          </a:solidFill>
          <a:ln w="12700">
            <a:solidFill>
              <a:srgbClr val="6A4FA0"/>
            </a:solidFill>
            <a:prstDash val="solid"/>
          </a:ln>
        </p:spPr>
      </p:sp>
      <p:sp>
        <p:nvSpPr>
          <p:cNvPr id="12" name="pd1-n"/>
          <p:cNvSpPr txBox="1"/>
          <p:nvPr/>
        </p:nvSpPr>
        <p:spPr>
          <a:xfrm>
            <a:off x="3401568" y="18562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401568" y="2258568"/>
            <a:ext cx="2286000" cy="274320"/>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Environments drift</a:t>
            </a:r>
            <a:endParaRPr lang="en-US" sz="1400" dirty="0"/>
          </a:p>
        </p:txBody>
      </p:sp>
      <p:sp>
        <p:nvSpPr>
          <p:cNvPr id="14" name="Text 12"/>
          <p:cNvSpPr txBox="1"/>
          <p:nvPr/>
        </p:nvSpPr>
        <p:spPr>
          <a:xfrm>
            <a:off x="3401568" y="2560320"/>
            <a:ext cx="2286000" cy="64008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Development, staging and production slowly stop matching.</a:t>
            </a:r>
            <a:endParaRPr lang="en-US" sz="1150" dirty="0"/>
          </a:p>
        </p:txBody>
      </p:sp>
      <p:sp>
        <p:nvSpPr>
          <p:cNvPr id="15" name="p2"/>
          <p:cNvSpPr/>
          <p:nvPr/>
        </p:nvSpPr>
        <p:spPr>
          <a:xfrm>
            <a:off x="6025896" y="1691640"/>
            <a:ext cx="2624328" cy="1600200"/>
          </a:xfrm>
          <a:prstGeom prst="roundRect">
            <a:avLst>
              <a:gd name="adj" fmla="val 4571"/>
            </a:avLst>
          </a:prstGeom>
          <a:solidFill>
            <a:srgbClr val="F1F0F7"/>
          </a:solidFill>
          <a:ln w="12700">
            <a:solidFill>
              <a:srgbClr val="F1F0F7"/>
            </a:solidFill>
            <a:prstDash val="solid"/>
          </a:ln>
        </p:spPr>
      </p:sp>
      <p:sp>
        <p:nvSpPr>
          <p:cNvPr id="16" name="pd2"/>
          <p:cNvSpPr/>
          <p:nvPr/>
        </p:nvSpPr>
        <p:spPr>
          <a:xfrm>
            <a:off x="6208776" y="1856232"/>
            <a:ext cx="310896" cy="310896"/>
          </a:xfrm>
          <a:prstGeom prst="ellipse">
            <a:avLst/>
          </a:prstGeom>
          <a:solidFill>
            <a:srgbClr val="6A4FA0"/>
          </a:solidFill>
          <a:ln w="12700">
            <a:solidFill>
              <a:srgbClr val="6A4FA0"/>
            </a:solidFill>
            <a:prstDash val="solid"/>
          </a:ln>
        </p:spPr>
      </p:sp>
      <p:sp>
        <p:nvSpPr>
          <p:cNvPr id="17" name="pd2-n"/>
          <p:cNvSpPr txBox="1"/>
          <p:nvPr/>
        </p:nvSpPr>
        <p:spPr>
          <a:xfrm>
            <a:off x="6208776" y="18562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208776" y="2258568"/>
            <a:ext cx="2286000" cy="274320"/>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Rebuilds depend on memory</a:t>
            </a:r>
            <a:endParaRPr lang="en-US" sz="1400" dirty="0"/>
          </a:p>
        </p:txBody>
      </p:sp>
      <p:sp>
        <p:nvSpPr>
          <p:cNvPr id="19" name="Text 17"/>
          <p:cNvSpPr txBox="1"/>
          <p:nvPr/>
        </p:nvSpPr>
        <p:spPr>
          <a:xfrm>
            <a:off x="6208776" y="2560320"/>
            <a:ext cx="2286000" cy="64008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Recovery or a new region relies on what engineers remember.</a:t>
            </a:r>
            <a:endParaRPr lang="en-US" sz="1150" dirty="0"/>
          </a:p>
        </p:txBody>
      </p:sp>
      <p:sp>
        <p:nvSpPr>
          <p:cNvPr id="20" name="pp"/>
          <p:cNvSpPr/>
          <p:nvPr/>
        </p:nvSpPr>
        <p:spPr>
          <a:xfrm>
            <a:off x="411480" y="3520440"/>
            <a:ext cx="8321040" cy="1143000"/>
          </a:xfrm>
          <a:prstGeom prst="roundRect">
            <a:avLst>
              <a:gd name="adj" fmla="val 6400"/>
            </a:avLst>
          </a:prstGeom>
          <a:solidFill>
            <a:srgbClr val="221B35"/>
          </a:solidFill>
          <a:ln w="12700">
            <a:solidFill>
              <a:srgbClr val="221B35"/>
            </a:solidFill>
            <a:prstDash val="solid"/>
          </a:ln>
        </p:spPr>
      </p:sp>
      <p:sp>
        <p:nvSpPr>
          <p:cNvPr id="21" name="pp-head"/>
          <p:cNvSpPr txBox="1"/>
          <p:nvPr/>
        </p:nvSpPr>
        <p:spPr>
          <a:xfrm>
            <a:off x="640080" y="3685032"/>
            <a:ext cx="7863840" cy="256032"/>
          </a:xfrm>
          <a:prstGeom prst="rect">
            <a:avLst/>
          </a:prstGeom>
          <a:noFill/>
          <a:ln/>
        </p:spPr>
        <p:txBody>
          <a:bodyPr wrap="square" lIns="0" tIns="0" rIns="0" bIns="0" rtlCol="0" anchor="ctr"/>
          <a:lstStyle/>
          <a:p>
            <a:pPr indent="0" marL="0">
              <a:buNone/>
            </a:pPr>
            <a:r>
              <a:rPr lang="en-US" sz="1200" b="1" dirty="0">
                <a:solidFill>
                  <a:srgbClr val="E39A3B"/>
                </a:solidFill>
                <a:latin typeface="Calibri" pitchFamily="34" charset="0"/>
                <a:ea typeface="Calibri" pitchFamily="34" charset="-122"/>
                <a:cs typeface="Calibri" pitchFamily="34" charset="-120"/>
              </a:rPr>
              <a:t>THE CONTESTED QUESTION</a:t>
            </a:r>
            <a:endParaRPr lang="en-US" sz="1200" dirty="0"/>
          </a:p>
        </p:txBody>
      </p:sp>
      <p:sp>
        <p:nvSpPr>
          <p:cNvPr id="22" name="pp-body"/>
          <p:cNvSpPr txBox="1"/>
          <p:nvPr/>
        </p:nvSpPr>
        <p:spPr>
          <a:xfrm>
            <a:off x="640080" y="3977640"/>
            <a:ext cx="7863840" cy="548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Not whether this is a problem, but how much fixing it with Terraform actually changes, and at what cost.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Prior studies compare Terraform with other tools, never with the manual work it replaces.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Aim, Objectives and Research Questions</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04</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aim"/>
          <p:cNvSpPr/>
          <p:nvPr/>
        </p:nvSpPr>
        <p:spPr>
          <a:xfrm>
            <a:off x="411480" y="1051560"/>
            <a:ext cx="8321040" cy="685800"/>
          </a:xfrm>
          <a:prstGeom prst="roundRect">
            <a:avLst>
              <a:gd name="adj" fmla="val 10667"/>
            </a:avLst>
          </a:prstGeom>
          <a:solidFill>
            <a:srgbClr val="F1F0F7"/>
          </a:solidFill>
          <a:ln w="12700">
            <a:solidFill>
              <a:srgbClr val="F1F0F7"/>
            </a:solidFill>
            <a:prstDash val="solid"/>
          </a:ln>
        </p:spPr>
      </p:sp>
      <p:sp>
        <p:nvSpPr>
          <p:cNvPr id="5" name="Text 3"/>
          <p:cNvSpPr txBox="1"/>
          <p:nvPr/>
        </p:nvSpPr>
        <p:spPr>
          <a:xfrm>
            <a:off x="594360" y="1097280"/>
            <a:ext cx="7955280" cy="594360"/>
          </a:xfrm>
          <a:prstGeom prst="rect">
            <a:avLst/>
          </a:prstGeom>
          <a:noFill/>
          <a:ln/>
        </p:spPr>
        <p:txBody>
          <a:bodyPr wrap="square" lIns="0" tIns="0" rIns="0" bIns="0" rtlCol="0" anchor="ctr"/>
          <a:lstStyle/>
          <a:p>
            <a:pPr indent="0" marL="0">
              <a:buNone/>
            </a:pPr>
            <a:r>
              <a:rPr lang="en-US" sz="1300" b="1" dirty="0">
                <a:solidFill>
                  <a:srgbClr val="E39A3B"/>
                </a:solidFill>
                <a:latin typeface="Calibri" pitchFamily="34" charset="0"/>
                <a:ea typeface="Calibri" pitchFamily="34" charset="-122"/>
                <a:cs typeface="Calibri" pitchFamily="34" charset="-120"/>
              </a:rPr>
              <a:t>AIM  </a:t>
            </a:r>
            <a:pPr indent="0" marL="0">
              <a:buNone/>
            </a:pPr>
            <a:r>
              <a:rPr lang="en-US" sz="1300" dirty="0">
                <a:solidFill>
                  <a:srgbClr val="1E1A2B"/>
                </a:solidFill>
                <a:latin typeface="Calibri" pitchFamily="34" charset="0"/>
                <a:ea typeface="Calibri" pitchFamily="34" charset="-122"/>
                <a:cs typeface="Calibri" pitchFamily="34" charset="-120"/>
              </a:rPr>
              <a:t>Build the AWS architecture in Terraform, run it through GitHub Actions, measure four outcomes against manual provisioning, and explain what made the change hard.</a:t>
            </a:r>
            <a:endParaRPr lang="en-US" sz="1300" dirty="0"/>
          </a:p>
        </p:txBody>
      </p:sp>
      <p:sp>
        <p:nvSpPr>
          <p:cNvPr id="6" name="Text 4"/>
          <p:cNvSpPr txBox="1"/>
          <p:nvPr/>
        </p:nvSpPr>
        <p:spPr>
          <a:xfrm>
            <a:off x="411480" y="1920240"/>
            <a:ext cx="3657600" cy="228600"/>
          </a:xfrm>
          <a:prstGeom prst="rect">
            <a:avLst/>
          </a:prstGeom>
          <a:noFill/>
          <a:ln/>
        </p:spPr>
        <p:txBody>
          <a:bodyPr wrap="square" lIns="0" tIns="0" rIns="0" bIns="0" rtlCol="0" anchor="ctr"/>
          <a:lstStyle/>
          <a:p>
            <a:pPr indent="0" marL="0">
              <a:buNone/>
            </a:pPr>
            <a:r>
              <a:rPr lang="en-US" sz="1100" b="1" dirty="0">
                <a:solidFill>
                  <a:srgbClr val="6B6680"/>
                </a:solidFill>
                <a:latin typeface="Calibri" pitchFamily="34" charset="0"/>
                <a:ea typeface="Calibri" pitchFamily="34" charset="-122"/>
                <a:cs typeface="Calibri" pitchFamily="34" charset="-120"/>
              </a:rPr>
              <a:t>OBJECTIVES</a:t>
            </a:r>
            <a:endParaRPr lang="en-US" sz="1100" dirty="0"/>
          </a:p>
        </p:txBody>
      </p:sp>
      <p:sp>
        <p:nvSpPr>
          <p:cNvPr id="7" name="Text 5"/>
          <p:cNvSpPr txBox="1"/>
          <p:nvPr/>
        </p:nvSpPr>
        <p:spPr>
          <a:xfrm>
            <a:off x="411480" y="2194560"/>
            <a:ext cx="3931920" cy="23774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1E1A2B"/>
                </a:solidFill>
                <a:latin typeface="Calibri" pitchFamily="34" charset="0"/>
                <a:ea typeface="Calibri" pitchFamily="34" charset="-122"/>
                <a:cs typeface="Calibri" pitchFamily="34" charset="-120"/>
              </a:rPr>
              <a:t>Document how the architecture is provisioned</a:t>
            </a:r>
            <a:endParaRPr lang="en-US" sz="1300" dirty="0"/>
          </a:p>
          <a:p>
            <a:pPr marL="342900" indent="-342900">
              <a:spcAft>
                <a:spcPts val="600"/>
              </a:spcAft>
              <a:buSzPct val="100000"/>
              <a:buFont typeface="+mj-lt"/>
              <a:buAutoNum type="arabicPeriod" startAt="1"/>
            </a:pPr>
            <a:r>
              <a:rPr lang="en-US" sz="1300" dirty="0">
                <a:solidFill>
                  <a:srgbClr val="1E1A2B"/>
                </a:solidFill>
                <a:latin typeface="Calibri" pitchFamily="34" charset="0"/>
                <a:ea typeface="Calibri" pitchFamily="34" charset="-122"/>
                <a:cs typeface="Calibri" pitchFamily="34" charset="-120"/>
              </a:rPr>
              <a:t>Build a modular Terraform codebase</a:t>
            </a:r>
            <a:endParaRPr lang="en-US" sz="1300" dirty="0"/>
          </a:p>
          <a:p>
            <a:pPr marL="342900" indent="-342900">
              <a:spcAft>
                <a:spcPts val="600"/>
              </a:spcAft>
              <a:buSzPct val="100000"/>
              <a:buFont typeface="+mj-lt"/>
              <a:buAutoNum type="arabicPeriod" startAt="1"/>
            </a:pPr>
            <a:r>
              <a:rPr lang="en-US" sz="1300" dirty="0">
                <a:solidFill>
                  <a:srgbClr val="1E1A2B"/>
                </a:solidFill>
                <a:latin typeface="Calibri" pitchFamily="34" charset="0"/>
                <a:ea typeface="Calibri" pitchFamily="34" charset="-122"/>
                <a:cs typeface="Calibri" pitchFamily="34" charset="-120"/>
              </a:rPr>
              <a:t>Integrate it into GitHub Actions</a:t>
            </a:r>
            <a:endParaRPr lang="en-US" sz="1300" dirty="0"/>
          </a:p>
          <a:p>
            <a:pPr marL="342900" indent="-342900">
              <a:spcAft>
                <a:spcPts val="600"/>
              </a:spcAft>
              <a:buSzPct val="100000"/>
              <a:buFont typeface="+mj-lt"/>
              <a:buAutoNum type="arabicPeriod" startAt="1"/>
            </a:pPr>
            <a:r>
              <a:rPr lang="en-US" sz="1300" dirty="0">
                <a:solidFill>
                  <a:srgbClr val="1E1A2B"/>
                </a:solidFill>
                <a:latin typeface="Calibri" pitchFamily="34" charset="0"/>
                <a:ea typeface="Calibri" pitchFamily="34" charset="-122"/>
                <a:cs typeface="Calibri" pitchFamily="34" charset="-120"/>
              </a:rPr>
              <a:t>Measure duration, drift, reproducibility, coverage</a:t>
            </a:r>
            <a:endParaRPr lang="en-US" sz="1300" dirty="0"/>
          </a:p>
          <a:p>
            <a:pPr marL="342900" indent="-342900">
              <a:spcAft>
                <a:spcPts val="600"/>
              </a:spcAft>
              <a:buSzPct val="100000"/>
              <a:buFont typeface="+mj-lt"/>
              <a:buAutoNum type="arabicPeriod" startAt="1"/>
            </a:pPr>
            <a:r>
              <a:rPr lang="en-US" sz="1300" dirty="0">
                <a:solidFill>
                  <a:srgbClr val="1E1A2B"/>
                </a:solidFill>
                <a:latin typeface="Calibri" pitchFamily="34" charset="0"/>
                <a:ea typeface="Calibri" pitchFamily="34" charset="-122"/>
                <a:cs typeface="Calibri" pitchFamily="34" charset="-120"/>
              </a:rPr>
              <a:t>Explain barriers; recommend</a:t>
            </a:r>
            <a:endParaRPr lang="en-US" sz="1300" dirty="0"/>
          </a:p>
        </p:txBody>
      </p:sp>
      <p:sp>
        <p:nvSpPr>
          <p:cNvPr id="8" name="Text 6"/>
          <p:cNvSpPr txBox="1"/>
          <p:nvPr/>
        </p:nvSpPr>
        <p:spPr>
          <a:xfrm>
            <a:off x="4663440" y="1920240"/>
            <a:ext cx="3657600" cy="228600"/>
          </a:xfrm>
          <a:prstGeom prst="rect">
            <a:avLst/>
          </a:prstGeom>
          <a:noFill/>
          <a:ln/>
        </p:spPr>
        <p:txBody>
          <a:bodyPr wrap="square" lIns="0" tIns="0" rIns="0" bIns="0" rtlCol="0" anchor="ctr"/>
          <a:lstStyle/>
          <a:p>
            <a:pPr indent="0" marL="0">
              <a:buNone/>
            </a:pPr>
            <a:r>
              <a:rPr lang="en-US" sz="1100" b="1" dirty="0">
                <a:solidFill>
                  <a:srgbClr val="6B6680"/>
                </a:solidFill>
                <a:latin typeface="Calibri" pitchFamily="34" charset="0"/>
                <a:ea typeface="Calibri" pitchFamily="34" charset="-122"/>
                <a:cs typeface="Calibri" pitchFamily="34" charset="-120"/>
              </a:rPr>
              <a:t>RESEARCH QUESTIONS</a:t>
            </a:r>
            <a:endParaRPr lang="en-US" sz="1100" dirty="0"/>
          </a:p>
        </p:txBody>
      </p:sp>
      <p:sp>
        <p:nvSpPr>
          <p:cNvPr id="9" name="Text 7"/>
          <p:cNvSpPr txBox="1"/>
          <p:nvPr/>
        </p:nvSpPr>
        <p:spPr>
          <a:xfrm>
            <a:off x="4663440" y="2212848"/>
            <a:ext cx="50292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RQ1</a:t>
            </a:r>
            <a:endParaRPr lang="en-US" sz="1300" dirty="0"/>
          </a:p>
        </p:txBody>
      </p:sp>
      <p:sp>
        <p:nvSpPr>
          <p:cNvPr id="10" name="Text 8"/>
          <p:cNvSpPr txBox="1"/>
          <p:nvPr/>
        </p:nvSpPr>
        <p:spPr>
          <a:xfrm>
            <a:off x="5212080" y="2212848"/>
            <a:ext cx="3520440" cy="502920"/>
          </a:xfrm>
          <a:prstGeom prst="rect">
            <a:avLst/>
          </a:prstGeom>
          <a:noFill/>
          <a:ln/>
        </p:spPr>
        <p:txBody>
          <a:bodyPr wrap="square" lIns="0" tIns="0" rIns="0" bIns="0" rtlCol="0" anchor="t"/>
          <a:lstStyle/>
          <a:p>
            <a:pPr indent="0" marL="0">
              <a:buNone/>
            </a:pPr>
            <a:r>
              <a:rPr lang="en-US" sz="1250" dirty="0">
                <a:solidFill>
                  <a:srgbClr val="1E1A2B"/>
                </a:solidFill>
                <a:latin typeface="Calibri" pitchFamily="34" charset="0"/>
                <a:ea typeface="Calibri" pitchFamily="34" charset="-122"/>
                <a:cs typeface="Calibri" pitchFamily="34" charset="-120"/>
              </a:rPr>
              <a:t>How is it provisioned, and how much is under version control?</a:t>
            </a:r>
            <a:endParaRPr lang="en-US" sz="1250" dirty="0"/>
          </a:p>
        </p:txBody>
      </p:sp>
      <p:sp>
        <p:nvSpPr>
          <p:cNvPr id="11" name="Text 9"/>
          <p:cNvSpPr txBox="1"/>
          <p:nvPr/>
        </p:nvSpPr>
        <p:spPr>
          <a:xfrm>
            <a:off x="4663440" y="2798064"/>
            <a:ext cx="50292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RQ2</a:t>
            </a:r>
            <a:endParaRPr lang="en-US" sz="1300" dirty="0"/>
          </a:p>
        </p:txBody>
      </p:sp>
      <p:sp>
        <p:nvSpPr>
          <p:cNvPr id="12" name="Text 10"/>
          <p:cNvSpPr txBox="1"/>
          <p:nvPr/>
        </p:nvSpPr>
        <p:spPr>
          <a:xfrm>
            <a:off x="5212080" y="2798064"/>
            <a:ext cx="3520440" cy="502920"/>
          </a:xfrm>
          <a:prstGeom prst="rect">
            <a:avLst/>
          </a:prstGeom>
          <a:noFill/>
          <a:ln/>
        </p:spPr>
        <p:txBody>
          <a:bodyPr wrap="square" lIns="0" tIns="0" rIns="0" bIns="0" rtlCol="0" anchor="t"/>
          <a:lstStyle/>
          <a:p>
            <a:pPr indent="0" marL="0">
              <a:buNone/>
            </a:pPr>
            <a:r>
              <a:rPr lang="en-US" sz="1250" dirty="0">
                <a:solidFill>
                  <a:srgbClr val="1E1A2B"/>
                </a:solidFill>
                <a:latin typeface="Calibri" pitchFamily="34" charset="0"/>
                <a:ea typeface="Calibri" pitchFamily="34" charset="-122"/>
                <a:cs typeface="Calibri" pitchFamily="34" charset="-120"/>
              </a:rPr>
              <a:t>How does Terraform differ from manual work on the four outcomes?</a:t>
            </a:r>
            <a:endParaRPr lang="en-US" sz="1250" dirty="0"/>
          </a:p>
        </p:txBody>
      </p:sp>
      <p:sp>
        <p:nvSpPr>
          <p:cNvPr id="13" name="Text 11"/>
          <p:cNvSpPr txBox="1"/>
          <p:nvPr/>
        </p:nvSpPr>
        <p:spPr>
          <a:xfrm>
            <a:off x="4663440" y="3383280"/>
            <a:ext cx="50292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RQ3</a:t>
            </a:r>
            <a:endParaRPr lang="en-US" sz="1300" dirty="0"/>
          </a:p>
        </p:txBody>
      </p:sp>
      <p:sp>
        <p:nvSpPr>
          <p:cNvPr id="14" name="Text 12"/>
          <p:cNvSpPr txBox="1"/>
          <p:nvPr/>
        </p:nvSpPr>
        <p:spPr>
          <a:xfrm>
            <a:off x="5212080" y="3383280"/>
            <a:ext cx="3520440" cy="502920"/>
          </a:xfrm>
          <a:prstGeom prst="rect">
            <a:avLst/>
          </a:prstGeom>
          <a:noFill/>
          <a:ln/>
        </p:spPr>
        <p:txBody>
          <a:bodyPr wrap="square" lIns="0" tIns="0" rIns="0" bIns="0" rtlCol="0" anchor="t"/>
          <a:lstStyle/>
          <a:p>
            <a:pPr indent="0" marL="0">
              <a:buNone/>
            </a:pPr>
            <a:r>
              <a:rPr lang="en-US" sz="1250" dirty="0">
                <a:solidFill>
                  <a:srgbClr val="1E1A2B"/>
                </a:solidFill>
                <a:latin typeface="Calibri" pitchFamily="34" charset="0"/>
                <a:ea typeface="Calibri" pitchFamily="34" charset="-122"/>
                <a:cs typeface="Calibri" pitchFamily="34" charset="-120"/>
              </a:rPr>
              <a:t>Does pipeline integration depth moderate drift?</a:t>
            </a:r>
            <a:endParaRPr lang="en-US" sz="1250" dirty="0"/>
          </a:p>
        </p:txBody>
      </p:sp>
      <p:sp>
        <p:nvSpPr>
          <p:cNvPr id="15" name="Text 13"/>
          <p:cNvSpPr txBox="1"/>
          <p:nvPr/>
        </p:nvSpPr>
        <p:spPr>
          <a:xfrm>
            <a:off x="4663440" y="3968496"/>
            <a:ext cx="50292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RQ4</a:t>
            </a:r>
            <a:endParaRPr lang="en-US" sz="1300" dirty="0"/>
          </a:p>
        </p:txBody>
      </p:sp>
      <p:sp>
        <p:nvSpPr>
          <p:cNvPr id="16" name="Text 14"/>
          <p:cNvSpPr txBox="1"/>
          <p:nvPr/>
        </p:nvSpPr>
        <p:spPr>
          <a:xfrm>
            <a:off x="5212080" y="3968496"/>
            <a:ext cx="3520440" cy="502920"/>
          </a:xfrm>
          <a:prstGeom prst="rect">
            <a:avLst/>
          </a:prstGeom>
          <a:noFill/>
          <a:ln/>
        </p:spPr>
        <p:txBody>
          <a:bodyPr wrap="square" lIns="0" tIns="0" rIns="0" bIns="0" rtlCol="0" anchor="t"/>
          <a:lstStyle/>
          <a:p>
            <a:pPr indent="0" marL="0">
              <a:buNone/>
            </a:pPr>
            <a:r>
              <a:rPr lang="en-US" sz="1250" dirty="0">
                <a:solidFill>
                  <a:srgbClr val="1E1A2B"/>
                </a:solidFill>
                <a:latin typeface="Calibri" pitchFamily="34" charset="0"/>
                <a:ea typeface="Calibri" pitchFamily="34" charset="-122"/>
                <a:cs typeface="Calibri" pitchFamily="34" charset="-120"/>
              </a:rPr>
              <a:t>What barriers and enablers arise in practice?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Key Literature and Research Gap</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05</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Text 2"/>
          <p:cNvSpPr txBox="1"/>
          <p:nvPr/>
        </p:nvSpPr>
        <p:spPr>
          <a:xfrm>
            <a:off x="411480" y="1024128"/>
            <a:ext cx="8321040" cy="274320"/>
          </a:xfrm>
          <a:prstGeom prst="rect">
            <a:avLst/>
          </a:prstGeom>
          <a:noFill/>
          <a:ln/>
        </p:spPr>
        <p:txBody>
          <a:bodyPr wrap="square" lIns="0" tIns="0" rIns="0" bIns="0" rtlCol="0" anchor="ctr"/>
          <a:lstStyle/>
          <a:p>
            <a:pPr indent="0" marL="0">
              <a:buNone/>
            </a:pPr>
            <a:r>
              <a:rPr lang="en-US" sz="1400" i="1" dirty="0">
                <a:solidFill>
                  <a:srgbClr val="6A4FA0"/>
                </a:solidFill>
                <a:latin typeface="Calibri" pitchFamily="34" charset="0"/>
                <a:ea typeface="Calibri" pitchFamily="34" charset="-122"/>
                <a:cs typeface="Calibri" pitchFamily="34" charset="-120"/>
              </a:rPr>
              <a:t>20 peer-reviewed studies reviewed, every DOI verified</a:t>
            </a:r>
            <a:endParaRPr lang="en-US" sz="1400" dirty="0"/>
          </a:p>
        </p:txBody>
      </p:sp>
      <p:sp>
        <p:nvSpPr>
          <p:cNvPr id="5" name="Text 3"/>
          <p:cNvSpPr txBox="1"/>
          <p:nvPr/>
        </p:nvSpPr>
        <p:spPr>
          <a:xfrm>
            <a:off x="411480" y="1463040"/>
            <a:ext cx="4206240" cy="256032"/>
          </a:xfrm>
          <a:prstGeom prst="rect">
            <a:avLst/>
          </a:prstGeom>
          <a:noFill/>
          <a:ln/>
        </p:spPr>
        <p:txBody>
          <a:bodyPr wrap="square" lIns="0" tIns="0" rIns="0" bIns="0" rtlCol="0" anchor="ctr"/>
          <a:lstStyle/>
          <a:p>
            <a:pPr indent="0" marL="0">
              <a:buNone/>
            </a:pPr>
            <a:r>
              <a:rPr lang="en-US" sz="1350" b="1" dirty="0">
                <a:solidFill>
                  <a:srgbClr val="1E1A2B"/>
                </a:solidFill>
                <a:latin typeface="Calibri" pitchFamily="34" charset="0"/>
                <a:ea typeface="Calibri" pitchFamily="34" charset="-122"/>
                <a:cs typeface="Calibri" pitchFamily="34" charset="-120"/>
              </a:rPr>
              <a:t>IaC tool performance</a:t>
            </a:r>
            <a:endParaRPr lang="en-US" sz="1350" dirty="0"/>
          </a:p>
        </p:txBody>
      </p:sp>
      <p:sp>
        <p:nvSpPr>
          <p:cNvPr id="6" name="Text 4"/>
          <p:cNvSpPr txBox="1"/>
          <p:nvPr/>
        </p:nvSpPr>
        <p:spPr>
          <a:xfrm>
            <a:off x="411480" y="1719072"/>
            <a:ext cx="4206240" cy="457200"/>
          </a:xfrm>
          <a:prstGeom prst="rect">
            <a:avLst/>
          </a:prstGeom>
          <a:noFill/>
          <a:ln/>
        </p:spPr>
        <p:txBody>
          <a:bodyPr wrap="square" lIns="0" tIns="0" rIns="0" bIns="0" rtlCol="0" anchor="t"/>
          <a:lstStyle/>
          <a:p>
            <a:pPr indent="0" marL="0">
              <a:buNone/>
            </a:pPr>
            <a:r>
              <a:rPr lang="en-US" sz="1100" dirty="0">
                <a:solidFill>
                  <a:srgbClr val="6B6680"/>
                </a:solidFill>
                <a:latin typeface="Calibri" pitchFamily="34" charset="0"/>
                <a:ea typeface="Calibri" pitchFamily="34" charset="-122"/>
                <a:cs typeface="Calibri" pitchFamily="34" charset="-120"/>
              </a:rPr>
              <a:t>Regvart et al. (2026): Terraform 253 s vs CloudFormation 623 s; no failures in 30 cycles</a:t>
            </a:r>
            <a:endParaRPr lang="en-US" sz="1100" dirty="0"/>
          </a:p>
        </p:txBody>
      </p:sp>
      <p:sp>
        <p:nvSpPr>
          <p:cNvPr id="7" name="Text 5"/>
          <p:cNvSpPr txBox="1"/>
          <p:nvPr/>
        </p:nvSpPr>
        <p:spPr>
          <a:xfrm>
            <a:off x="411480" y="2240280"/>
            <a:ext cx="4206240" cy="256032"/>
          </a:xfrm>
          <a:prstGeom prst="rect">
            <a:avLst/>
          </a:prstGeom>
          <a:noFill/>
          <a:ln/>
        </p:spPr>
        <p:txBody>
          <a:bodyPr wrap="square" lIns="0" tIns="0" rIns="0" bIns="0" rtlCol="0" anchor="ctr"/>
          <a:lstStyle/>
          <a:p>
            <a:pPr indent="0" marL="0">
              <a:buNone/>
            </a:pPr>
            <a:r>
              <a:rPr lang="en-US" sz="1350" b="1" dirty="0">
                <a:solidFill>
                  <a:srgbClr val="1E1A2B"/>
                </a:solidFill>
                <a:latin typeface="Calibri" pitchFamily="34" charset="0"/>
                <a:ea typeface="Calibri" pitchFamily="34" charset="-122"/>
                <a:cs typeface="Calibri" pitchFamily="34" charset="-120"/>
              </a:rPr>
              <a:t>IaC quality and security</a:t>
            </a:r>
            <a:endParaRPr lang="en-US" sz="1350" dirty="0"/>
          </a:p>
        </p:txBody>
      </p:sp>
      <p:sp>
        <p:nvSpPr>
          <p:cNvPr id="8" name="Text 6"/>
          <p:cNvSpPr txBox="1"/>
          <p:nvPr/>
        </p:nvSpPr>
        <p:spPr>
          <a:xfrm>
            <a:off x="411480" y="2496312"/>
            <a:ext cx="4206240" cy="457200"/>
          </a:xfrm>
          <a:prstGeom prst="rect">
            <a:avLst/>
          </a:prstGeom>
          <a:noFill/>
          <a:ln/>
        </p:spPr>
        <p:txBody>
          <a:bodyPr wrap="square" lIns="0" tIns="0" rIns="0" bIns="0" rtlCol="0" anchor="t"/>
          <a:lstStyle/>
          <a:p>
            <a:pPr indent="0" marL="0">
              <a:buNone/>
            </a:pPr>
            <a:r>
              <a:rPr lang="en-US" sz="1100" dirty="0">
                <a:solidFill>
                  <a:srgbClr val="6B6680"/>
                </a:solidFill>
                <a:latin typeface="Calibri" pitchFamily="34" charset="0"/>
                <a:ea typeface="Calibri" pitchFamily="34" charset="-122"/>
                <a:cs typeface="Calibri" pitchFamily="34" charset="-120"/>
              </a:rPr>
              <a:t>Verdet et al. (2025): encryption neglected in 812 projects; Rahman et al. (2019, 2020): smells, defects</a:t>
            </a:r>
            <a:endParaRPr lang="en-US" sz="1100" dirty="0"/>
          </a:p>
        </p:txBody>
      </p:sp>
      <p:sp>
        <p:nvSpPr>
          <p:cNvPr id="9" name="Text 7"/>
          <p:cNvSpPr txBox="1"/>
          <p:nvPr/>
        </p:nvSpPr>
        <p:spPr>
          <a:xfrm>
            <a:off x="411480" y="3017520"/>
            <a:ext cx="4206240" cy="256032"/>
          </a:xfrm>
          <a:prstGeom prst="rect">
            <a:avLst/>
          </a:prstGeom>
          <a:noFill/>
          <a:ln/>
        </p:spPr>
        <p:txBody>
          <a:bodyPr wrap="square" lIns="0" tIns="0" rIns="0" bIns="0" rtlCol="0" anchor="ctr"/>
          <a:lstStyle/>
          <a:p>
            <a:pPr indent="0" marL="0">
              <a:buNone/>
            </a:pPr>
            <a:r>
              <a:rPr lang="en-US" sz="1350" b="1" dirty="0">
                <a:solidFill>
                  <a:srgbClr val="1E1A2B"/>
                </a:solidFill>
                <a:latin typeface="Calibri" pitchFamily="34" charset="0"/>
                <a:ea typeface="Calibri" pitchFamily="34" charset="-122"/>
                <a:cs typeface="Calibri" pitchFamily="34" charset="-120"/>
              </a:rPr>
              <a:t>Dependency maintenance</a:t>
            </a:r>
            <a:endParaRPr lang="en-US" sz="1350" dirty="0"/>
          </a:p>
        </p:txBody>
      </p:sp>
      <p:sp>
        <p:nvSpPr>
          <p:cNvPr id="10" name="Text 8"/>
          <p:cNvSpPr txBox="1"/>
          <p:nvPr/>
        </p:nvSpPr>
        <p:spPr>
          <a:xfrm>
            <a:off x="411480" y="3273552"/>
            <a:ext cx="4206240" cy="457200"/>
          </a:xfrm>
          <a:prstGeom prst="rect">
            <a:avLst/>
          </a:prstGeom>
          <a:noFill/>
          <a:ln/>
        </p:spPr>
        <p:txBody>
          <a:bodyPr wrap="square" lIns="0" tIns="0" rIns="0" bIns="0" rtlCol="0" anchor="t"/>
          <a:lstStyle/>
          <a:p>
            <a:pPr indent="0" marL="0">
              <a:buNone/>
            </a:pPr>
            <a:r>
              <a:rPr lang="en-US" sz="1100" dirty="0">
                <a:solidFill>
                  <a:srgbClr val="6B6680"/>
                </a:solidFill>
                <a:latin typeface="Calibri" pitchFamily="34" charset="0"/>
                <a:ea typeface="Calibri" pitchFamily="34" charset="-122"/>
                <a:cs typeface="Calibri" pitchFamily="34" charset="-120"/>
              </a:rPr>
              <a:t>Begoug et al. (2025): module lag about 10 months; AWS provider lag about 9 months</a:t>
            </a:r>
            <a:endParaRPr lang="en-US" sz="1100" dirty="0"/>
          </a:p>
        </p:txBody>
      </p:sp>
      <p:sp>
        <p:nvSpPr>
          <p:cNvPr id="11" name="Text 9"/>
          <p:cNvSpPr txBox="1"/>
          <p:nvPr/>
        </p:nvSpPr>
        <p:spPr>
          <a:xfrm>
            <a:off x="411480" y="3794760"/>
            <a:ext cx="4206240" cy="256032"/>
          </a:xfrm>
          <a:prstGeom prst="rect">
            <a:avLst/>
          </a:prstGeom>
          <a:noFill/>
          <a:ln/>
        </p:spPr>
        <p:txBody>
          <a:bodyPr wrap="square" lIns="0" tIns="0" rIns="0" bIns="0" rtlCol="0" anchor="ctr"/>
          <a:lstStyle/>
          <a:p>
            <a:pPr indent="0" marL="0">
              <a:buNone/>
            </a:pPr>
            <a:r>
              <a:rPr lang="en-US" sz="1350" b="1" dirty="0">
                <a:solidFill>
                  <a:srgbClr val="1E1A2B"/>
                </a:solidFill>
                <a:latin typeface="Calibri" pitchFamily="34" charset="0"/>
                <a:ea typeface="Calibri" pitchFamily="34" charset="-122"/>
                <a:cs typeface="Calibri" pitchFamily="34" charset="-120"/>
              </a:rPr>
              <a:t>CI/CD and GitHub Actions</a:t>
            </a:r>
            <a:endParaRPr lang="en-US" sz="1350" dirty="0"/>
          </a:p>
        </p:txBody>
      </p:sp>
      <p:sp>
        <p:nvSpPr>
          <p:cNvPr id="12" name="Text 10"/>
          <p:cNvSpPr txBox="1"/>
          <p:nvPr/>
        </p:nvSpPr>
        <p:spPr>
          <a:xfrm>
            <a:off x="411480" y="4050792"/>
            <a:ext cx="4206240" cy="457200"/>
          </a:xfrm>
          <a:prstGeom prst="rect">
            <a:avLst/>
          </a:prstGeom>
          <a:noFill/>
          <a:ln/>
        </p:spPr>
        <p:txBody>
          <a:bodyPr wrap="square" lIns="0" tIns="0" rIns="0" bIns="0" rtlCol="0" anchor="t"/>
          <a:lstStyle/>
          <a:p>
            <a:pPr indent="0" marL="0">
              <a:buNone/>
            </a:pPr>
            <a:r>
              <a:rPr lang="en-US" sz="1100" dirty="0">
                <a:solidFill>
                  <a:srgbClr val="6B6680"/>
                </a:solidFill>
                <a:latin typeface="Calibri" pitchFamily="34" charset="0"/>
                <a:ea typeface="Calibri" pitchFamily="34" charset="-122"/>
                <a:cs typeface="Calibri" pitchFamily="34" charset="-120"/>
              </a:rPr>
              <a:t>Hilton et al. (2016); Kinsman et al. (2021); Rostami Mazrae et al. (2023): migration to GitHub Actions</a:t>
            </a:r>
            <a:endParaRPr lang="en-US" sz="1100" dirty="0"/>
          </a:p>
        </p:txBody>
      </p:sp>
      <p:sp>
        <p:nvSpPr>
          <p:cNvPr id="13" name="gap"/>
          <p:cNvSpPr/>
          <p:nvPr/>
        </p:nvSpPr>
        <p:spPr>
          <a:xfrm>
            <a:off x="4892040" y="1463040"/>
            <a:ext cx="3840480" cy="3063240"/>
          </a:xfrm>
          <a:prstGeom prst="roundRect">
            <a:avLst>
              <a:gd name="adj" fmla="val 2388"/>
            </a:avLst>
          </a:prstGeom>
          <a:solidFill>
            <a:srgbClr val="221B35"/>
          </a:solidFill>
          <a:ln w="12700">
            <a:solidFill>
              <a:srgbClr val="221B35"/>
            </a:solidFill>
            <a:prstDash val="solid"/>
          </a:ln>
        </p:spPr>
      </p:sp>
      <p:sp>
        <p:nvSpPr>
          <p:cNvPr id="14" name="gap-head"/>
          <p:cNvSpPr txBox="1"/>
          <p:nvPr/>
        </p:nvSpPr>
        <p:spPr>
          <a:xfrm>
            <a:off x="5120640" y="1627632"/>
            <a:ext cx="3383280" cy="256032"/>
          </a:xfrm>
          <a:prstGeom prst="rect">
            <a:avLst/>
          </a:prstGeom>
          <a:noFill/>
          <a:ln/>
        </p:spPr>
        <p:txBody>
          <a:bodyPr wrap="square" lIns="0" tIns="0" rIns="0" bIns="0" rtlCol="0" anchor="ctr"/>
          <a:lstStyle/>
          <a:p>
            <a:pPr indent="0" marL="0">
              <a:buNone/>
            </a:pPr>
            <a:r>
              <a:rPr lang="en-US" sz="1200" b="1" dirty="0">
                <a:solidFill>
                  <a:srgbClr val="E39A3B"/>
                </a:solidFill>
                <a:latin typeface="Calibri" pitchFamily="34" charset="0"/>
                <a:ea typeface="Calibri" pitchFamily="34" charset="-122"/>
                <a:cs typeface="Calibri" pitchFamily="34" charset="-120"/>
              </a:rPr>
              <a:t>THREE GAPS</a:t>
            </a:r>
            <a:endParaRPr lang="en-US" sz="1200" dirty="0"/>
          </a:p>
        </p:txBody>
      </p:sp>
      <p:sp>
        <p:nvSpPr>
          <p:cNvPr id="15" name="gap-body"/>
          <p:cNvSpPr txBox="1"/>
          <p:nvPr/>
        </p:nvSpPr>
        <p:spPr>
          <a:xfrm>
            <a:off x="5120640" y="1920240"/>
            <a:ext cx="3383280" cy="24688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Empirical: no study measures Terraform against manual provisioning of the same system</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Theoretical: IaC and the pipeline are studied apart, so the effect of review is never isolated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Contextual: no IaC evidence from Cambodia or a regulated setting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Conceptual Framework and Hypotheses</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06</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pic>
        <p:nvPicPr>
          <p:cNvPr id="4" name="framework" descr="/Users/kaoleangseng/Downloads/devops2-assessment2-main 2/assessment2/figures/fig2_1_framework.png">    </p:cNvPr>
          <p:cNvPicPr>
            <a:picLocks noChangeAspect="1"/>
          </p:cNvPicPr>
          <p:nvPr/>
        </p:nvPicPr>
        <p:blipFill>
          <a:blip r:embed="rId1"/>
          <a:stretch>
            <a:fillRect/>
          </a:stretch>
        </p:blipFill>
        <p:spPr>
          <a:xfrm>
            <a:off x="411480" y="1051560"/>
            <a:ext cx="5120640" cy="2980944"/>
          </a:xfrm>
          <a:prstGeom prst="rect">
            <a:avLst/>
          </a:prstGeom>
        </p:spPr>
      </p:pic>
      <p:sp>
        <p:nvSpPr>
          <p:cNvPr id="5" name="Text 2"/>
          <p:cNvSpPr txBox="1"/>
          <p:nvPr/>
        </p:nvSpPr>
        <p:spPr>
          <a:xfrm>
            <a:off x="5806440" y="1143000"/>
            <a:ext cx="45720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H1</a:t>
            </a:r>
            <a:endParaRPr lang="en-US" sz="1300" dirty="0"/>
          </a:p>
        </p:txBody>
      </p:sp>
      <p:sp>
        <p:nvSpPr>
          <p:cNvPr id="6" name="Text 3"/>
          <p:cNvSpPr txBox="1"/>
          <p:nvPr/>
        </p:nvSpPr>
        <p:spPr>
          <a:xfrm>
            <a:off x="6263640" y="1143000"/>
            <a:ext cx="2468880" cy="502920"/>
          </a:xfrm>
          <a:prstGeom prst="rect">
            <a:avLst/>
          </a:prstGeom>
          <a:noFill/>
          <a:ln/>
        </p:spPr>
        <p:txBody>
          <a:bodyPr wrap="square" lIns="0" tIns="0" rIns="0" bIns="0" rtlCol="0" anchor="t"/>
          <a:lstStyle/>
          <a:p>
            <a:pPr indent="0" marL="0">
              <a:buNone/>
            </a:pPr>
            <a:r>
              <a:rPr lang="en-US" sz="1200" dirty="0">
                <a:solidFill>
                  <a:srgbClr val="1E1A2B"/>
                </a:solidFill>
                <a:latin typeface="Calibri" pitchFamily="34" charset="0"/>
                <a:ea typeface="Calibri" pitchFamily="34" charset="-122"/>
                <a:cs typeface="Calibri" pitchFamily="34" charset="-120"/>
              </a:rPr>
              <a:t>Terraform is faster to provision</a:t>
            </a:r>
            <a:endParaRPr lang="en-US" sz="1200" dirty="0"/>
          </a:p>
        </p:txBody>
      </p:sp>
      <p:sp>
        <p:nvSpPr>
          <p:cNvPr id="7" name="Text 4"/>
          <p:cNvSpPr txBox="1"/>
          <p:nvPr/>
        </p:nvSpPr>
        <p:spPr>
          <a:xfrm>
            <a:off x="5806440" y="1746504"/>
            <a:ext cx="45720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H2</a:t>
            </a:r>
            <a:endParaRPr lang="en-US" sz="1300" dirty="0"/>
          </a:p>
        </p:txBody>
      </p:sp>
      <p:sp>
        <p:nvSpPr>
          <p:cNvPr id="8" name="Text 5"/>
          <p:cNvSpPr txBox="1"/>
          <p:nvPr/>
        </p:nvSpPr>
        <p:spPr>
          <a:xfrm>
            <a:off x="6263640" y="1746504"/>
            <a:ext cx="2468880" cy="502920"/>
          </a:xfrm>
          <a:prstGeom prst="rect">
            <a:avLst/>
          </a:prstGeom>
          <a:noFill/>
          <a:ln/>
        </p:spPr>
        <p:txBody>
          <a:bodyPr wrap="square" lIns="0" tIns="0" rIns="0" bIns="0" rtlCol="0" anchor="t"/>
          <a:lstStyle/>
          <a:p>
            <a:pPr indent="0" marL="0">
              <a:buNone/>
            </a:pPr>
            <a:r>
              <a:rPr lang="en-US" sz="1200" dirty="0">
                <a:solidFill>
                  <a:srgbClr val="1E1A2B"/>
                </a:solidFill>
                <a:latin typeface="Calibri" pitchFamily="34" charset="0"/>
                <a:ea typeface="Calibri" pitchFamily="34" charset="-122"/>
                <a:cs typeface="Calibri" pitchFamily="34" charset="-120"/>
              </a:rPr>
              <a:t>Terraform reduces drift between environments</a:t>
            </a:r>
            <a:endParaRPr lang="en-US" sz="1200" dirty="0"/>
          </a:p>
        </p:txBody>
      </p:sp>
      <p:sp>
        <p:nvSpPr>
          <p:cNvPr id="9" name="Text 6"/>
          <p:cNvSpPr txBox="1"/>
          <p:nvPr/>
        </p:nvSpPr>
        <p:spPr>
          <a:xfrm>
            <a:off x="5806440" y="2350008"/>
            <a:ext cx="45720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H3</a:t>
            </a:r>
            <a:endParaRPr lang="en-US" sz="1300" dirty="0"/>
          </a:p>
        </p:txBody>
      </p:sp>
      <p:sp>
        <p:nvSpPr>
          <p:cNvPr id="10" name="Text 7"/>
          <p:cNvSpPr txBox="1"/>
          <p:nvPr/>
        </p:nvSpPr>
        <p:spPr>
          <a:xfrm>
            <a:off x="6263640" y="2350008"/>
            <a:ext cx="2468880" cy="502920"/>
          </a:xfrm>
          <a:prstGeom prst="rect">
            <a:avLst/>
          </a:prstGeom>
          <a:noFill/>
          <a:ln/>
        </p:spPr>
        <p:txBody>
          <a:bodyPr wrap="square" lIns="0" tIns="0" rIns="0" bIns="0" rtlCol="0" anchor="t"/>
          <a:lstStyle/>
          <a:p>
            <a:pPr indent="0" marL="0">
              <a:buNone/>
            </a:pPr>
            <a:r>
              <a:rPr lang="en-US" sz="1200" dirty="0">
                <a:solidFill>
                  <a:srgbClr val="1E1A2B"/>
                </a:solidFill>
                <a:latin typeface="Calibri" pitchFamily="34" charset="0"/>
                <a:ea typeface="Calibri" pitchFamily="34" charset="-122"/>
                <a:cs typeface="Calibri" pitchFamily="34" charset="-120"/>
              </a:rPr>
              <a:t>Terraform rebuilds succeed more often</a:t>
            </a:r>
            <a:endParaRPr lang="en-US" sz="1200" dirty="0"/>
          </a:p>
        </p:txBody>
      </p:sp>
      <p:sp>
        <p:nvSpPr>
          <p:cNvPr id="11" name="Text 8"/>
          <p:cNvSpPr txBox="1"/>
          <p:nvPr/>
        </p:nvSpPr>
        <p:spPr>
          <a:xfrm>
            <a:off x="5806440" y="2953512"/>
            <a:ext cx="45720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H4</a:t>
            </a:r>
            <a:endParaRPr lang="en-US" sz="1300" dirty="0"/>
          </a:p>
        </p:txBody>
      </p:sp>
      <p:sp>
        <p:nvSpPr>
          <p:cNvPr id="12" name="Text 9"/>
          <p:cNvSpPr txBox="1"/>
          <p:nvPr/>
        </p:nvSpPr>
        <p:spPr>
          <a:xfrm>
            <a:off x="6263640" y="2953512"/>
            <a:ext cx="2468880" cy="502920"/>
          </a:xfrm>
          <a:prstGeom prst="rect">
            <a:avLst/>
          </a:prstGeom>
          <a:noFill/>
          <a:ln/>
        </p:spPr>
        <p:txBody>
          <a:bodyPr wrap="square" lIns="0" tIns="0" rIns="0" bIns="0" rtlCol="0" anchor="t"/>
          <a:lstStyle/>
          <a:p>
            <a:pPr indent="0" marL="0">
              <a:buNone/>
            </a:pPr>
            <a:r>
              <a:rPr lang="en-US" sz="1200" dirty="0">
                <a:solidFill>
                  <a:srgbClr val="1E1A2B"/>
                </a:solidFill>
                <a:latin typeface="Calibri" pitchFamily="34" charset="0"/>
                <a:ea typeface="Calibri" pitchFamily="34" charset="-122"/>
                <a:cs typeface="Calibri" pitchFamily="34" charset="-120"/>
              </a:rPr>
              <a:t>Pipeline raises version-control and review coverage</a:t>
            </a:r>
            <a:endParaRPr lang="en-US" sz="1200" dirty="0"/>
          </a:p>
        </p:txBody>
      </p:sp>
      <p:sp>
        <p:nvSpPr>
          <p:cNvPr id="13" name="Text 10"/>
          <p:cNvSpPr txBox="1"/>
          <p:nvPr/>
        </p:nvSpPr>
        <p:spPr>
          <a:xfrm>
            <a:off x="5806440" y="3557016"/>
            <a:ext cx="45720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H5</a:t>
            </a:r>
            <a:endParaRPr lang="en-US" sz="1300" dirty="0"/>
          </a:p>
        </p:txBody>
      </p:sp>
      <p:sp>
        <p:nvSpPr>
          <p:cNvPr id="14" name="Text 11"/>
          <p:cNvSpPr txBox="1"/>
          <p:nvPr/>
        </p:nvSpPr>
        <p:spPr>
          <a:xfrm>
            <a:off x="6263640" y="3557016"/>
            <a:ext cx="2468880" cy="502920"/>
          </a:xfrm>
          <a:prstGeom prst="rect">
            <a:avLst/>
          </a:prstGeom>
          <a:noFill/>
          <a:ln/>
        </p:spPr>
        <p:txBody>
          <a:bodyPr wrap="square" lIns="0" tIns="0" rIns="0" bIns="0" rtlCol="0" anchor="t"/>
          <a:lstStyle/>
          <a:p>
            <a:pPr indent="0" marL="0">
              <a:buNone/>
            </a:pPr>
            <a:r>
              <a:rPr lang="en-US" sz="1200" dirty="0">
                <a:solidFill>
                  <a:srgbClr val="1E1A2B"/>
                </a:solidFill>
                <a:latin typeface="Calibri" pitchFamily="34" charset="0"/>
                <a:ea typeface="Calibri" pitchFamily="34" charset="-122"/>
                <a:cs typeface="Calibri" pitchFamily="34" charset="-120"/>
              </a:rPr>
              <a:t>Integration depth moderates the drift effect</a:t>
            </a:r>
            <a:endParaRPr lang="en-US" sz="1200" dirty="0"/>
          </a:p>
        </p:txBody>
      </p:sp>
      <p:sp>
        <p:nvSpPr>
          <p:cNvPr id="15" name="Text 12"/>
          <p:cNvSpPr txBox="1"/>
          <p:nvPr/>
        </p:nvSpPr>
        <p:spPr>
          <a:xfrm>
            <a:off x="411480" y="4206240"/>
            <a:ext cx="8321040" cy="41148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Grounded in IaC principles, the deployment pipeline concept and DevOps outcome measurement; acceptance models (TAM, UTAUT) set aside because the outcomes are system properties.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Research Methodology</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07</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m0"/>
          <p:cNvSpPr/>
          <p:nvPr/>
        </p:nvSpPr>
        <p:spPr>
          <a:xfrm>
            <a:off x="411480" y="1051560"/>
            <a:ext cx="1947672" cy="868680"/>
          </a:xfrm>
          <a:prstGeom prst="roundRect">
            <a:avLst>
              <a:gd name="adj" fmla="val 8421"/>
            </a:avLst>
          </a:prstGeom>
          <a:solidFill>
            <a:srgbClr val="F1F0F7"/>
          </a:solidFill>
          <a:ln w="12700">
            <a:solidFill>
              <a:srgbClr val="F1F0F7"/>
            </a:solidFill>
            <a:prstDash val="solid"/>
          </a:ln>
        </p:spPr>
      </p:sp>
      <p:sp>
        <p:nvSpPr>
          <p:cNvPr id="5" name="Text 3"/>
          <p:cNvSpPr txBox="1"/>
          <p:nvPr/>
        </p:nvSpPr>
        <p:spPr>
          <a:xfrm>
            <a:off x="548640" y="1143000"/>
            <a:ext cx="173736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PHILOSOPHY</a:t>
            </a:r>
            <a:endParaRPr lang="en-US" sz="1000" dirty="0"/>
          </a:p>
        </p:txBody>
      </p:sp>
      <p:sp>
        <p:nvSpPr>
          <p:cNvPr id="6" name="Text 4"/>
          <p:cNvSpPr txBox="1"/>
          <p:nvPr/>
        </p:nvSpPr>
        <p:spPr>
          <a:xfrm>
            <a:off x="548640" y="1371600"/>
            <a:ext cx="1737360" cy="502920"/>
          </a:xfrm>
          <a:prstGeom prst="rect">
            <a:avLst/>
          </a:prstGeom>
          <a:noFill/>
          <a:ln/>
        </p:spPr>
        <p:txBody>
          <a:bodyPr wrap="square" lIns="0" tIns="0" rIns="0" bIns="0" rtlCol="0" anchor="t"/>
          <a:lstStyle/>
          <a:p>
            <a:pPr indent="0" marL="0">
              <a:buNone/>
            </a:pPr>
            <a:r>
              <a:rPr lang="en-US" sz="1300" b="1" dirty="0">
                <a:solidFill>
                  <a:srgbClr val="1E1A2B"/>
                </a:solidFill>
                <a:latin typeface="Calibri" pitchFamily="34" charset="0"/>
                <a:ea typeface="Calibri" pitchFamily="34" charset="-122"/>
                <a:cs typeface="Calibri" pitchFamily="34" charset="-120"/>
              </a:rPr>
              <a:t>Pragmatism</a:t>
            </a:r>
            <a:endParaRPr lang="en-US" sz="1300" dirty="0"/>
          </a:p>
        </p:txBody>
      </p:sp>
      <p:sp>
        <p:nvSpPr>
          <p:cNvPr id="7" name="m1"/>
          <p:cNvSpPr/>
          <p:nvPr/>
        </p:nvSpPr>
        <p:spPr>
          <a:xfrm>
            <a:off x="2523744" y="1051560"/>
            <a:ext cx="1947672" cy="868680"/>
          </a:xfrm>
          <a:prstGeom prst="roundRect">
            <a:avLst>
              <a:gd name="adj" fmla="val 8421"/>
            </a:avLst>
          </a:prstGeom>
          <a:solidFill>
            <a:srgbClr val="F1F0F7"/>
          </a:solidFill>
          <a:ln w="12700">
            <a:solidFill>
              <a:srgbClr val="F1F0F7"/>
            </a:solidFill>
            <a:prstDash val="solid"/>
          </a:ln>
        </p:spPr>
      </p:sp>
      <p:sp>
        <p:nvSpPr>
          <p:cNvPr id="8" name="Text 6"/>
          <p:cNvSpPr txBox="1"/>
          <p:nvPr/>
        </p:nvSpPr>
        <p:spPr>
          <a:xfrm>
            <a:off x="2660904" y="1143000"/>
            <a:ext cx="173736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APPROACH</a:t>
            </a:r>
            <a:endParaRPr lang="en-US" sz="1000" dirty="0"/>
          </a:p>
        </p:txBody>
      </p:sp>
      <p:sp>
        <p:nvSpPr>
          <p:cNvPr id="9" name="Text 7"/>
          <p:cNvSpPr txBox="1"/>
          <p:nvPr/>
        </p:nvSpPr>
        <p:spPr>
          <a:xfrm>
            <a:off x="2660904" y="1371600"/>
            <a:ext cx="1737360" cy="502920"/>
          </a:xfrm>
          <a:prstGeom prst="rect">
            <a:avLst/>
          </a:prstGeom>
          <a:noFill/>
          <a:ln/>
        </p:spPr>
        <p:txBody>
          <a:bodyPr wrap="square" lIns="0" tIns="0" rIns="0" bIns="0" rtlCol="0" anchor="t"/>
          <a:lstStyle/>
          <a:p>
            <a:pPr indent="0" marL="0">
              <a:buNone/>
            </a:pPr>
            <a:r>
              <a:rPr lang="en-US" sz="1300" b="1" dirty="0">
                <a:solidFill>
                  <a:srgbClr val="1E1A2B"/>
                </a:solidFill>
                <a:latin typeface="Calibri" pitchFamily="34" charset="0"/>
                <a:ea typeface="Calibri" pitchFamily="34" charset="-122"/>
                <a:cs typeface="Calibri" pitchFamily="34" charset="-120"/>
              </a:rPr>
              <a:t>Abductive</a:t>
            </a:r>
            <a:endParaRPr lang="en-US" sz="1300" dirty="0"/>
          </a:p>
        </p:txBody>
      </p:sp>
      <p:sp>
        <p:nvSpPr>
          <p:cNvPr id="10" name="m2"/>
          <p:cNvSpPr/>
          <p:nvPr/>
        </p:nvSpPr>
        <p:spPr>
          <a:xfrm>
            <a:off x="4636008" y="1051560"/>
            <a:ext cx="1947672" cy="868680"/>
          </a:xfrm>
          <a:prstGeom prst="roundRect">
            <a:avLst>
              <a:gd name="adj" fmla="val 8421"/>
            </a:avLst>
          </a:prstGeom>
          <a:solidFill>
            <a:srgbClr val="F1F0F7"/>
          </a:solidFill>
          <a:ln w="12700">
            <a:solidFill>
              <a:srgbClr val="F1F0F7"/>
            </a:solidFill>
            <a:prstDash val="solid"/>
          </a:ln>
        </p:spPr>
      </p:sp>
      <p:sp>
        <p:nvSpPr>
          <p:cNvPr id="11" name="Text 9"/>
          <p:cNvSpPr txBox="1"/>
          <p:nvPr/>
        </p:nvSpPr>
        <p:spPr>
          <a:xfrm>
            <a:off x="4773168" y="1143000"/>
            <a:ext cx="173736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DESIGN</a:t>
            </a:r>
            <a:endParaRPr lang="en-US" sz="1000" dirty="0"/>
          </a:p>
        </p:txBody>
      </p:sp>
      <p:sp>
        <p:nvSpPr>
          <p:cNvPr id="12" name="Text 10"/>
          <p:cNvSpPr txBox="1"/>
          <p:nvPr/>
        </p:nvSpPr>
        <p:spPr>
          <a:xfrm>
            <a:off x="4773168" y="1371600"/>
            <a:ext cx="1737360" cy="502920"/>
          </a:xfrm>
          <a:prstGeom prst="rect">
            <a:avLst/>
          </a:prstGeom>
          <a:noFill/>
          <a:ln/>
        </p:spPr>
        <p:txBody>
          <a:bodyPr wrap="square" lIns="0" tIns="0" rIns="0" bIns="0" rtlCol="0" anchor="t"/>
          <a:lstStyle/>
          <a:p>
            <a:pPr indent="0" marL="0">
              <a:buNone/>
            </a:pPr>
            <a:r>
              <a:rPr lang="en-US" sz="1300" b="1" dirty="0">
                <a:solidFill>
                  <a:srgbClr val="1E1A2B"/>
                </a:solidFill>
                <a:latin typeface="Calibri" pitchFamily="34" charset="0"/>
                <a:ea typeface="Calibri" pitchFamily="34" charset="-122"/>
                <a:cs typeface="Calibri" pitchFamily="34" charset="-120"/>
              </a:rPr>
              <a:t>Explanatory sequential mixed methods</a:t>
            </a:r>
            <a:endParaRPr lang="en-US" sz="1300" dirty="0"/>
          </a:p>
        </p:txBody>
      </p:sp>
      <p:sp>
        <p:nvSpPr>
          <p:cNvPr id="13" name="m3"/>
          <p:cNvSpPr/>
          <p:nvPr/>
        </p:nvSpPr>
        <p:spPr>
          <a:xfrm>
            <a:off x="6748272" y="1051560"/>
            <a:ext cx="1947672" cy="868680"/>
          </a:xfrm>
          <a:prstGeom prst="roundRect">
            <a:avLst>
              <a:gd name="adj" fmla="val 8421"/>
            </a:avLst>
          </a:prstGeom>
          <a:solidFill>
            <a:srgbClr val="F1F0F7"/>
          </a:solidFill>
          <a:ln w="12700">
            <a:solidFill>
              <a:srgbClr val="F1F0F7"/>
            </a:solidFill>
            <a:prstDash val="solid"/>
          </a:ln>
        </p:spPr>
      </p:sp>
      <p:sp>
        <p:nvSpPr>
          <p:cNvPr id="14" name="Text 12"/>
          <p:cNvSpPr txBox="1"/>
          <p:nvPr/>
        </p:nvSpPr>
        <p:spPr>
          <a:xfrm>
            <a:off x="6885432" y="1143000"/>
            <a:ext cx="173736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SETTING</a:t>
            </a:r>
            <a:endParaRPr lang="en-US" sz="1000" dirty="0"/>
          </a:p>
        </p:txBody>
      </p:sp>
      <p:sp>
        <p:nvSpPr>
          <p:cNvPr id="15" name="Text 13"/>
          <p:cNvSpPr txBox="1"/>
          <p:nvPr/>
        </p:nvSpPr>
        <p:spPr>
          <a:xfrm>
            <a:off x="6885432" y="1371600"/>
            <a:ext cx="1737360" cy="502920"/>
          </a:xfrm>
          <a:prstGeom prst="rect">
            <a:avLst/>
          </a:prstGeom>
          <a:noFill/>
          <a:ln/>
        </p:spPr>
        <p:txBody>
          <a:bodyPr wrap="square" lIns="0" tIns="0" rIns="0" bIns="0" rtlCol="0" anchor="t"/>
          <a:lstStyle/>
          <a:p>
            <a:pPr indent="0" marL="0">
              <a:buNone/>
            </a:pPr>
            <a:r>
              <a:rPr lang="en-US" sz="1300" b="1" dirty="0">
                <a:solidFill>
                  <a:srgbClr val="1E1A2B"/>
                </a:solidFill>
                <a:latin typeface="Calibri" pitchFamily="34" charset="0"/>
                <a:ea typeface="Calibri" pitchFamily="34" charset="-122"/>
                <a:cs typeface="Calibri" pitchFamily="34" charset="-120"/>
              </a:rPr>
              <a:t>Isolated AWS account, one region</a:t>
            </a:r>
            <a:endParaRPr lang="en-US" sz="1300" dirty="0"/>
          </a:p>
        </p:txBody>
      </p:sp>
      <p:pic>
        <p:nvPicPr>
          <p:cNvPr id="16" name="design" descr="/Users/kaoleangseng/Downloads/devops2-assessment2-main 2/assessment2/figures/fig3_1_design.png">    </p:cNvPr>
          <p:cNvPicPr>
            <a:picLocks noChangeAspect="1"/>
          </p:cNvPicPr>
          <p:nvPr/>
        </p:nvPicPr>
        <p:blipFill>
          <a:blip r:embed="rId1"/>
          <a:stretch>
            <a:fillRect/>
          </a:stretch>
        </p:blipFill>
        <p:spPr>
          <a:xfrm>
            <a:off x="411480" y="2103120"/>
            <a:ext cx="4572000" cy="2441448"/>
          </a:xfrm>
          <a:prstGeom prst="rect">
            <a:avLst/>
          </a:prstGeom>
        </p:spPr>
      </p:pic>
      <p:sp>
        <p:nvSpPr>
          <p:cNvPr id="17" name="meth"/>
          <p:cNvSpPr/>
          <p:nvPr/>
        </p:nvSpPr>
        <p:spPr>
          <a:xfrm>
            <a:off x="5257800" y="2103120"/>
            <a:ext cx="3474720" cy="2441448"/>
          </a:xfrm>
          <a:prstGeom prst="roundRect">
            <a:avLst>
              <a:gd name="adj" fmla="val 2996"/>
            </a:avLst>
          </a:prstGeom>
          <a:solidFill>
            <a:srgbClr val="221B35"/>
          </a:solidFill>
          <a:ln w="12700">
            <a:solidFill>
              <a:srgbClr val="221B35"/>
            </a:solidFill>
            <a:prstDash val="solid"/>
          </a:ln>
        </p:spPr>
      </p:sp>
      <p:sp>
        <p:nvSpPr>
          <p:cNvPr id="18" name="meth-head"/>
          <p:cNvSpPr txBox="1"/>
          <p:nvPr/>
        </p:nvSpPr>
        <p:spPr>
          <a:xfrm>
            <a:off x="5486400" y="2267712"/>
            <a:ext cx="3017520" cy="256032"/>
          </a:xfrm>
          <a:prstGeom prst="rect">
            <a:avLst/>
          </a:prstGeom>
          <a:noFill/>
          <a:ln/>
        </p:spPr>
        <p:txBody>
          <a:bodyPr wrap="square" lIns="0" tIns="0" rIns="0" bIns="0" rtlCol="0" anchor="ctr"/>
          <a:lstStyle/>
          <a:p>
            <a:pPr indent="0" marL="0">
              <a:buNone/>
            </a:pPr>
            <a:r>
              <a:rPr lang="en-US" sz="1200" b="1" dirty="0">
                <a:solidFill>
                  <a:srgbClr val="E39A3B"/>
                </a:solidFill>
                <a:latin typeface="Calibri" pitchFamily="34" charset="0"/>
                <a:ea typeface="Calibri" pitchFamily="34" charset="-122"/>
                <a:cs typeface="Calibri" pitchFamily="34" charset="-120"/>
              </a:rPr>
              <a:t>NO HUMAN PARTICIPANTS</a:t>
            </a:r>
            <a:endParaRPr lang="en-US" sz="1200" dirty="0"/>
          </a:p>
        </p:txBody>
      </p:sp>
      <p:sp>
        <p:nvSpPr>
          <p:cNvPr id="19" name="meth-body"/>
          <p:cNvSpPr txBox="1"/>
          <p:nvPr/>
        </p:nvSpPr>
        <p:spPr>
          <a:xfrm>
            <a:off x="5486400" y="2560320"/>
            <a:ext cx="3017520" cy="1847088"/>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Outcomes are machine-recorded, not self-reported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Qualitative data: the real implementation record (78 commits, 31 run reports, logs)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Ethics: confidentiality, no live data, credential handling, cost control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Data Collection and Analysis</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08</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d1-card"/>
          <p:cNvSpPr/>
          <p:nvPr/>
        </p:nvSpPr>
        <p:spPr>
          <a:xfrm>
            <a:off x="411480" y="1051560"/>
            <a:ext cx="1947672" cy="1170432"/>
          </a:xfrm>
          <a:prstGeom prst="roundRect">
            <a:avLst>
              <a:gd name="adj" fmla="val 6250"/>
            </a:avLst>
          </a:prstGeom>
          <a:solidFill>
            <a:srgbClr val="F1F0F7"/>
          </a:solidFill>
          <a:ln w="12700">
            <a:solidFill>
              <a:srgbClr val="F1F0F7"/>
            </a:solidFill>
            <a:prstDash val="solid"/>
          </a:ln>
        </p:spPr>
      </p:sp>
      <p:sp>
        <p:nvSpPr>
          <p:cNvPr id="5" name="d1-num"/>
          <p:cNvSpPr txBox="1"/>
          <p:nvPr/>
        </p:nvSpPr>
        <p:spPr>
          <a:xfrm>
            <a:off x="576072" y="1143000"/>
            <a:ext cx="1673352"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30</a:t>
            </a:r>
            <a:endParaRPr lang="en-US" sz="2800" dirty="0"/>
          </a:p>
        </p:txBody>
      </p:sp>
      <p:sp>
        <p:nvSpPr>
          <p:cNvPr id="6" name="d1-label"/>
          <p:cNvSpPr txBox="1"/>
          <p:nvPr/>
        </p:nvSpPr>
        <p:spPr>
          <a:xfrm>
            <a:off x="576072" y="1655064"/>
            <a:ext cx="1673352"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pipeline rebuilds</a:t>
            </a:r>
            <a:endParaRPr lang="en-US" sz="1300" dirty="0"/>
          </a:p>
        </p:txBody>
      </p:sp>
      <p:sp>
        <p:nvSpPr>
          <p:cNvPr id="7" name="d1-sub"/>
          <p:cNvSpPr txBox="1"/>
          <p:nvPr/>
        </p:nvSpPr>
        <p:spPr>
          <a:xfrm>
            <a:off x="576072" y="1901952"/>
            <a:ext cx="1673352"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GitHub Actions, measured</a:t>
            </a:r>
            <a:endParaRPr lang="en-US" sz="1050" dirty="0"/>
          </a:p>
        </p:txBody>
      </p:sp>
      <p:sp>
        <p:nvSpPr>
          <p:cNvPr id="8" name="d2-card"/>
          <p:cNvSpPr/>
          <p:nvPr/>
        </p:nvSpPr>
        <p:spPr>
          <a:xfrm>
            <a:off x="2523744" y="1051560"/>
            <a:ext cx="1947672" cy="1170432"/>
          </a:xfrm>
          <a:prstGeom prst="roundRect">
            <a:avLst>
              <a:gd name="adj" fmla="val 6250"/>
            </a:avLst>
          </a:prstGeom>
          <a:solidFill>
            <a:srgbClr val="F1F0F7"/>
          </a:solidFill>
          <a:ln w="12700">
            <a:solidFill>
              <a:srgbClr val="F1F0F7"/>
            </a:solidFill>
            <a:prstDash val="solid"/>
          </a:ln>
        </p:spPr>
      </p:sp>
      <p:sp>
        <p:nvSpPr>
          <p:cNvPr id="9" name="d2-num"/>
          <p:cNvSpPr txBox="1"/>
          <p:nvPr/>
        </p:nvSpPr>
        <p:spPr>
          <a:xfrm>
            <a:off x="2688336" y="1143000"/>
            <a:ext cx="1673352"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10</a:t>
            </a:r>
            <a:endParaRPr lang="en-US" sz="2800" dirty="0"/>
          </a:p>
        </p:txBody>
      </p:sp>
      <p:sp>
        <p:nvSpPr>
          <p:cNvPr id="10" name="d2-label"/>
          <p:cNvSpPr txBox="1"/>
          <p:nvPr/>
        </p:nvSpPr>
        <p:spPr>
          <a:xfrm>
            <a:off x="2688336" y="1655064"/>
            <a:ext cx="1673352"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manual builds</a:t>
            </a:r>
            <a:endParaRPr lang="en-US" sz="1300" dirty="0"/>
          </a:p>
        </p:txBody>
      </p:sp>
      <p:sp>
        <p:nvSpPr>
          <p:cNvPr id="11" name="d2-sub"/>
          <p:cNvSpPr txBox="1"/>
          <p:nvPr/>
        </p:nvSpPr>
        <p:spPr>
          <a:xfrm>
            <a:off x="2688336" y="1901952"/>
            <a:ext cx="1673352"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SIMULATED, seeded model</a:t>
            </a:r>
            <a:endParaRPr lang="en-US" sz="1050" dirty="0"/>
          </a:p>
        </p:txBody>
      </p:sp>
      <p:sp>
        <p:nvSpPr>
          <p:cNvPr id="12" name="d3-card"/>
          <p:cNvSpPr/>
          <p:nvPr/>
        </p:nvSpPr>
        <p:spPr>
          <a:xfrm>
            <a:off x="4636008" y="1051560"/>
            <a:ext cx="1947672" cy="1170432"/>
          </a:xfrm>
          <a:prstGeom prst="roundRect">
            <a:avLst>
              <a:gd name="adj" fmla="val 6250"/>
            </a:avLst>
          </a:prstGeom>
          <a:solidFill>
            <a:srgbClr val="F1F0F7"/>
          </a:solidFill>
          <a:ln w="12700">
            <a:solidFill>
              <a:srgbClr val="F1F0F7"/>
            </a:solidFill>
            <a:prstDash val="solid"/>
          </a:ln>
        </p:spPr>
      </p:sp>
      <p:sp>
        <p:nvSpPr>
          <p:cNvPr id="13" name="d3-num"/>
          <p:cNvSpPr txBox="1"/>
          <p:nvPr/>
        </p:nvSpPr>
        <p:spPr>
          <a:xfrm>
            <a:off x="4800600" y="1143000"/>
            <a:ext cx="1673352"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152</a:t>
            </a:r>
            <a:endParaRPr lang="en-US" sz="2800" dirty="0"/>
          </a:p>
        </p:txBody>
      </p:sp>
      <p:sp>
        <p:nvSpPr>
          <p:cNvPr id="14" name="d3-label"/>
          <p:cNvSpPr txBox="1"/>
          <p:nvPr/>
        </p:nvSpPr>
        <p:spPr>
          <a:xfrm>
            <a:off x="4800600" y="1655064"/>
            <a:ext cx="1673352"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AWS resources</a:t>
            </a:r>
            <a:endParaRPr lang="en-US" sz="1300" dirty="0"/>
          </a:p>
        </p:txBody>
      </p:sp>
      <p:sp>
        <p:nvSpPr>
          <p:cNvPr id="15" name="d3-sub"/>
          <p:cNvSpPr txBox="1"/>
          <p:nvPr/>
        </p:nvSpPr>
        <p:spPr>
          <a:xfrm>
            <a:off x="4800600" y="1901952"/>
            <a:ext cx="1673352"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140 rebuilt every cycle</a:t>
            </a:r>
            <a:endParaRPr lang="en-US" sz="1050" dirty="0"/>
          </a:p>
        </p:txBody>
      </p:sp>
      <p:sp>
        <p:nvSpPr>
          <p:cNvPr id="16" name="d4-card"/>
          <p:cNvSpPr/>
          <p:nvPr/>
        </p:nvSpPr>
        <p:spPr>
          <a:xfrm>
            <a:off x="6748272" y="1051560"/>
            <a:ext cx="1984248" cy="1170432"/>
          </a:xfrm>
          <a:prstGeom prst="roundRect">
            <a:avLst>
              <a:gd name="adj" fmla="val 6250"/>
            </a:avLst>
          </a:prstGeom>
          <a:solidFill>
            <a:srgbClr val="F1F0F7"/>
          </a:solidFill>
          <a:ln w="12700">
            <a:solidFill>
              <a:srgbClr val="F1F0F7"/>
            </a:solidFill>
            <a:prstDash val="solid"/>
          </a:ln>
        </p:spPr>
      </p:sp>
      <p:sp>
        <p:nvSpPr>
          <p:cNvPr id="17" name="d4-num"/>
          <p:cNvSpPr txBox="1"/>
          <p:nvPr/>
        </p:nvSpPr>
        <p:spPr>
          <a:xfrm>
            <a:off x="6912864" y="1143000"/>
            <a:ext cx="1709928"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24</a:t>
            </a:r>
            <a:endParaRPr lang="en-US" sz="2800" dirty="0"/>
          </a:p>
        </p:txBody>
      </p:sp>
      <p:sp>
        <p:nvSpPr>
          <p:cNvPr id="18" name="d4-label"/>
          <p:cNvSpPr txBox="1"/>
          <p:nvPr/>
        </p:nvSpPr>
        <p:spPr>
          <a:xfrm>
            <a:off x="6912864" y="1655064"/>
            <a:ext cx="1709928"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inventory items</a:t>
            </a:r>
            <a:endParaRPr lang="en-US" sz="1300" dirty="0"/>
          </a:p>
        </p:txBody>
      </p:sp>
      <p:sp>
        <p:nvSpPr>
          <p:cNvPr id="19" name="d4-sub"/>
          <p:cNvSpPr txBox="1"/>
          <p:nvPr/>
        </p:nvSpPr>
        <p:spPr>
          <a:xfrm>
            <a:off x="6912864" y="1901952"/>
            <a:ext cx="1709928"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coverage audit</a:t>
            </a:r>
            <a:endParaRPr lang="en-US" sz="1050" dirty="0"/>
          </a:p>
        </p:txBody>
      </p:sp>
      <p:sp>
        <p:nvSpPr>
          <p:cNvPr id="20" name="Text 18"/>
          <p:cNvSpPr txBox="1"/>
          <p:nvPr/>
        </p:nvSpPr>
        <p:spPr>
          <a:xfrm>
            <a:off x="411480" y="2423160"/>
            <a:ext cx="3657600" cy="228600"/>
          </a:xfrm>
          <a:prstGeom prst="rect">
            <a:avLst/>
          </a:prstGeom>
          <a:noFill/>
          <a:ln/>
        </p:spPr>
        <p:txBody>
          <a:bodyPr wrap="square" lIns="0" tIns="0" rIns="0" bIns="0" rtlCol="0" anchor="ctr"/>
          <a:lstStyle/>
          <a:p>
            <a:pPr indent="0" marL="0">
              <a:buNone/>
            </a:pPr>
            <a:r>
              <a:rPr lang="en-US" sz="1100" b="1" dirty="0">
                <a:solidFill>
                  <a:srgbClr val="6B6680"/>
                </a:solidFill>
                <a:latin typeface="Calibri" pitchFamily="34" charset="0"/>
                <a:ea typeface="Calibri" pitchFamily="34" charset="-122"/>
                <a:cs typeface="Calibri" pitchFamily="34" charset="-120"/>
              </a:rPr>
              <a:t>PLANNED VS ACHIEVED</a:t>
            </a:r>
            <a:endParaRPr lang="en-US" sz="1100" dirty="0"/>
          </a:p>
        </p:txBody>
      </p:sp>
      <p:graphicFrame>
        <p:nvGraphicFramePr>
          <p:cNvPr id="9" name="planned"/>
          <p:cNvGraphicFramePr>
            <a:graphicFrameLocks noGrp="1"/>
          </p:cNvGraphicFramePr>
          <p:nvPr>
            <p:extLst>
              <p:ext uri="{D42A27DB-BD31-4B8C-83A1-F6EECF244321}">
                <p14:modId xmlns:p14="http://schemas.microsoft.com/office/powerpoint/2010/main" val="1579011935"/>
              </p:ext>
            </p:extLst>
          </p:nvPr>
        </p:nvGraphicFramePr>
        <p:xfrm>
          <a:off x="411480" y="2697480"/>
          <a:ext cx="4297680" cy="914400"/>
        </p:xfrm>
        <a:graphic>
          <a:graphicData uri="http://schemas.openxmlformats.org/drawingml/2006/table">
            <a:tbl>
              <a:tblPr/>
              <a:tblGrid>
                <a:gridCol w="1554480"/>
                <a:gridCol w="822960"/>
                <a:gridCol w="1920240"/>
              </a:tblGrid>
              <a:tr h="329184">
                <a:tc>
                  <a:txBody>
                    <a:bodyPr/>
                    <a:lstStyle/>
                    <a:p>
                      <a:pPr indent="0" marL="0">
                        <a:buNone/>
                      </a:pPr>
                      <a:r>
                        <a:rPr lang="en-US" sz="1100" b="1" dirty="0">
                          <a:solidFill>
                            <a:srgbClr val="1E1A2B"/>
                          </a:solidFill>
                          <a:latin typeface="Calibri" pitchFamily="34" charset="0"/>
                          <a:ea typeface="Calibri" pitchFamily="34" charset="-122"/>
                          <a:cs typeface="Calibri" pitchFamily="34" charset="-120"/>
                        </a:rPr>
                        <a:t>Measure</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c>
                  <a:txBody>
                    <a:bodyPr/>
                    <a:lstStyle/>
                    <a:p>
                      <a:pPr indent="0" marL="0">
                        <a:buNone/>
                      </a:pPr>
                      <a:r>
                        <a:rPr lang="en-US" sz="1100" b="1" dirty="0">
                          <a:solidFill>
                            <a:srgbClr val="1E1A2B"/>
                          </a:solidFill>
                          <a:latin typeface="Calibri" pitchFamily="34" charset="0"/>
                          <a:ea typeface="Calibri" pitchFamily="34" charset="-122"/>
                          <a:cs typeface="Calibri" pitchFamily="34" charset="-120"/>
                        </a:rPr>
                        <a:t>Planned</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c>
                  <a:txBody>
                    <a:bodyPr/>
                    <a:lstStyle/>
                    <a:p>
                      <a:pPr indent="0" marL="0">
                        <a:buNone/>
                      </a:pPr>
                      <a:r>
                        <a:rPr lang="en-US" sz="1100" b="1" dirty="0">
                          <a:solidFill>
                            <a:srgbClr val="1E1A2B"/>
                          </a:solidFill>
                          <a:latin typeface="Calibri" pitchFamily="34" charset="0"/>
                          <a:ea typeface="Calibri" pitchFamily="34" charset="-122"/>
                          <a:cs typeface="Calibri" pitchFamily="34" charset="-120"/>
                        </a:rPr>
                        <a:t>Achieved</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r>
              <a:tr h="329184">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Terraform cycles</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30 (14 + 16 chained)</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329184">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Manual runs</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10 observed</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10 simulated</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329184">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Environments for drift</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329184">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Integration depth levels</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100" dirty="0">
                          <a:solidFill>
                            <a:srgbClr val="1E1A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bl>
          </a:graphicData>
        </a:graphic>
      </p:graphicFrame>
      <p:sp>
        <p:nvSpPr>
          <p:cNvPr id="22" name="an"/>
          <p:cNvSpPr/>
          <p:nvPr/>
        </p:nvSpPr>
        <p:spPr>
          <a:xfrm>
            <a:off x="4983480" y="2423160"/>
            <a:ext cx="3749040" cy="2560320"/>
          </a:xfrm>
          <a:prstGeom prst="roundRect">
            <a:avLst>
              <a:gd name="adj" fmla="val 2857"/>
            </a:avLst>
          </a:prstGeom>
          <a:solidFill>
            <a:srgbClr val="221B35"/>
          </a:solidFill>
          <a:ln w="12700">
            <a:solidFill>
              <a:srgbClr val="221B35"/>
            </a:solidFill>
            <a:prstDash val="solid"/>
          </a:ln>
        </p:spPr>
      </p:sp>
      <p:sp>
        <p:nvSpPr>
          <p:cNvPr id="23" name="an-head"/>
          <p:cNvSpPr txBox="1"/>
          <p:nvPr/>
        </p:nvSpPr>
        <p:spPr>
          <a:xfrm>
            <a:off x="5212080" y="2587752"/>
            <a:ext cx="3291840" cy="256032"/>
          </a:xfrm>
          <a:prstGeom prst="rect">
            <a:avLst/>
          </a:prstGeom>
          <a:noFill/>
          <a:ln/>
        </p:spPr>
        <p:txBody>
          <a:bodyPr wrap="square" lIns="0" tIns="0" rIns="0" bIns="0" rtlCol="0" anchor="ctr"/>
          <a:lstStyle/>
          <a:p>
            <a:pPr indent="0" marL="0">
              <a:buNone/>
            </a:pPr>
            <a:r>
              <a:rPr lang="en-US" sz="1200" b="1" dirty="0">
                <a:solidFill>
                  <a:srgbClr val="E39A3B"/>
                </a:solidFill>
                <a:latin typeface="Calibri" pitchFamily="34" charset="0"/>
                <a:ea typeface="Calibri" pitchFamily="34" charset="-122"/>
                <a:cs typeface="Calibri" pitchFamily="34" charset="-120"/>
              </a:rPr>
              <a:t>ANALYSIS</a:t>
            </a:r>
            <a:endParaRPr lang="en-US" sz="1200" dirty="0"/>
          </a:p>
        </p:txBody>
      </p:sp>
      <p:sp>
        <p:nvSpPr>
          <p:cNvPr id="24" name="an-body"/>
          <p:cNvSpPr txBox="1"/>
          <p:nvPr/>
        </p:nvSpPr>
        <p:spPr>
          <a:xfrm>
            <a:off x="5212080" y="2880360"/>
            <a:ext cx="3291840" cy="1965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Descriptives, CV, Shapiro–Wilk, Tukey outliers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Stability: trigger, day, run order, hour of day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Welch t + Mann–Whitney U; Hedges' g</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Fisher's exact test for rebuild success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Manual condition SIMULATED: stated parameters, fixed seed, sensitivity analysis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Reflexive thematic analysis; joint display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Findings 1: Terraform Pipeline Results (Measured)</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09</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f1-card"/>
          <p:cNvSpPr/>
          <p:nvPr/>
        </p:nvSpPr>
        <p:spPr>
          <a:xfrm>
            <a:off x="411480" y="1051560"/>
            <a:ext cx="2011680" cy="1170432"/>
          </a:xfrm>
          <a:prstGeom prst="roundRect">
            <a:avLst>
              <a:gd name="adj" fmla="val 6250"/>
            </a:avLst>
          </a:prstGeom>
          <a:solidFill>
            <a:srgbClr val="F1F0F7"/>
          </a:solidFill>
          <a:ln w="12700">
            <a:solidFill>
              <a:srgbClr val="F1F0F7"/>
            </a:solidFill>
            <a:prstDash val="solid"/>
          </a:ln>
        </p:spPr>
      </p:sp>
      <p:sp>
        <p:nvSpPr>
          <p:cNvPr id="5" name="f1-num"/>
          <p:cNvSpPr txBox="1"/>
          <p:nvPr/>
        </p:nvSpPr>
        <p:spPr>
          <a:xfrm>
            <a:off x="576072" y="1143000"/>
            <a:ext cx="1737360"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8.3 min</a:t>
            </a:r>
            <a:endParaRPr lang="en-US" sz="2800" dirty="0"/>
          </a:p>
        </p:txBody>
      </p:sp>
      <p:sp>
        <p:nvSpPr>
          <p:cNvPr id="6" name="f1-label"/>
          <p:cNvSpPr txBox="1"/>
          <p:nvPr/>
        </p:nvSpPr>
        <p:spPr>
          <a:xfrm>
            <a:off x="576072" y="1655064"/>
            <a:ext cx="1737360"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to build from empty</a:t>
            </a:r>
            <a:endParaRPr lang="en-US" sz="1300" dirty="0"/>
          </a:p>
        </p:txBody>
      </p:sp>
      <p:sp>
        <p:nvSpPr>
          <p:cNvPr id="7" name="f1-sub"/>
          <p:cNvSpPr txBox="1"/>
          <p:nvPr/>
        </p:nvSpPr>
        <p:spPr>
          <a:xfrm>
            <a:off x="576072" y="1901952"/>
            <a:ext cx="1737360"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SD 21 s · CV 4.2% · n = 30</a:t>
            </a:r>
            <a:endParaRPr lang="en-US" sz="1050" dirty="0"/>
          </a:p>
        </p:txBody>
      </p:sp>
      <p:sp>
        <p:nvSpPr>
          <p:cNvPr id="8" name="f2-card"/>
          <p:cNvSpPr/>
          <p:nvPr/>
        </p:nvSpPr>
        <p:spPr>
          <a:xfrm>
            <a:off x="411480" y="2313432"/>
            <a:ext cx="2011680" cy="1170432"/>
          </a:xfrm>
          <a:prstGeom prst="roundRect">
            <a:avLst>
              <a:gd name="adj" fmla="val 6250"/>
            </a:avLst>
          </a:prstGeom>
          <a:solidFill>
            <a:srgbClr val="F1F0F7"/>
          </a:solidFill>
          <a:ln w="12700">
            <a:solidFill>
              <a:srgbClr val="F1F0F7"/>
            </a:solidFill>
            <a:prstDash val="solid"/>
          </a:ln>
        </p:spPr>
      </p:sp>
      <p:sp>
        <p:nvSpPr>
          <p:cNvPr id="9" name="f2-num"/>
          <p:cNvSpPr txBox="1"/>
          <p:nvPr/>
        </p:nvSpPr>
        <p:spPr>
          <a:xfrm>
            <a:off x="576072" y="2404872"/>
            <a:ext cx="1737360"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20.1 min</a:t>
            </a:r>
            <a:endParaRPr lang="en-US" sz="2800" dirty="0"/>
          </a:p>
        </p:txBody>
      </p:sp>
      <p:sp>
        <p:nvSpPr>
          <p:cNvPr id="10" name="f2-label"/>
          <p:cNvSpPr txBox="1"/>
          <p:nvPr/>
        </p:nvSpPr>
        <p:spPr>
          <a:xfrm>
            <a:off x="576072" y="2916936"/>
            <a:ext cx="1737360"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to destroy</a:t>
            </a:r>
            <a:endParaRPr lang="en-US" sz="1300" dirty="0"/>
          </a:p>
        </p:txBody>
      </p:sp>
      <p:sp>
        <p:nvSpPr>
          <p:cNvPr id="11" name="f2-sub"/>
          <p:cNvSpPr txBox="1"/>
          <p:nvPr/>
        </p:nvSpPr>
        <p:spPr>
          <a:xfrm>
            <a:off x="576072" y="3163824"/>
            <a:ext cx="1737360"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service stacks = 64.1% of cycle</a:t>
            </a:r>
            <a:endParaRPr lang="en-US" sz="1050" dirty="0"/>
          </a:p>
        </p:txBody>
      </p:sp>
      <p:sp>
        <p:nvSpPr>
          <p:cNvPr id="12" name="f3-card"/>
          <p:cNvSpPr/>
          <p:nvPr/>
        </p:nvSpPr>
        <p:spPr>
          <a:xfrm>
            <a:off x="411480" y="3575304"/>
            <a:ext cx="2011680" cy="1170432"/>
          </a:xfrm>
          <a:prstGeom prst="roundRect">
            <a:avLst>
              <a:gd name="adj" fmla="val 6250"/>
            </a:avLst>
          </a:prstGeom>
          <a:solidFill>
            <a:srgbClr val="F1F0F7"/>
          </a:solidFill>
          <a:ln w="12700">
            <a:solidFill>
              <a:srgbClr val="F1F0F7"/>
            </a:solidFill>
            <a:prstDash val="solid"/>
          </a:ln>
        </p:spPr>
      </p:sp>
      <p:sp>
        <p:nvSpPr>
          <p:cNvPr id="13" name="f3-num"/>
          <p:cNvSpPr txBox="1"/>
          <p:nvPr/>
        </p:nvSpPr>
        <p:spPr>
          <a:xfrm>
            <a:off x="576072" y="3666744"/>
            <a:ext cx="1737360" cy="502920"/>
          </a:xfrm>
          <a:prstGeom prst="rect">
            <a:avLst/>
          </a:prstGeom>
          <a:noFill/>
          <a:ln/>
        </p:spPr>
        <p:txBody>
          <a:bodyPr wrap="square" lIns="0" tIns="0" rIns="0" bIns="0" rtlCol="0" anchor="ctr"/>
          <a:lstStyle/>
          <a:p>
            <a:pPr indent="0" marL="0">
              <a:buNone/>
            </a:pPr>
            <a:r>
              <a:rPr lang="en-US" sz="2800" b="1" dirty="0">
                <a:solidFill>
                  <a:srgbClr val="6A4FA0"/>
                </a:solidFill>
                <a:latin typeface="Cambria" pitchFamily="34" charset="0"/>
                <a:ea typeface="Cambria" pitchFamily="34" charset="-122"/>
                <a:cs typeface="Cambria" pitchFamily="34" charset="-120"/>
              </a:rPr>
              <a:t>30 / 30</a:t>
            </a:r>
            <a:endParaRPr lang="en-US" sz="2800" dirty="0"/>
          </a:p>
        </p:txBody>
      </p:sp>
      <p:sp>
        <p:nvSpPr>
          <p:cNvPr id="14" name="f3-label"/>
          <p:cNvSpPr txBox="1"/>
          <p:nvPr/>
        </p:nvSpPr>
        <p:spPr>
          <a:xfrm>
            <a:off x="576072" y="4178808"/>
            <a:ext cx="1737360" cy="256032"/>
          </a:xfrm>
          <a:prstGeom prst="rect">
            <a:avLst/>
          </a:prstGeom>
          <a:noFill/>
          <a:ln/>
        </p:spPr>
        <p:txBody>
          <a:bodyPr wrap="square" lIns="0" tIns="0" rIns="0" bIns="0" rtlCol="0" anchor="ctr"/>
          <a:lstStyle/>
          <a:p>
            <a:pPr indent="0" marL="0">
              <a:buNone/>
            </a:pPr>
            <a:r>
              <a:rPr lang="en-US" sz="1300" b="1" dirty="0">
                <a:solidFill>
                  <a:srgbClr val="1E1A2B"/>
                </a:solidFill>
                <a:latin typeface="Calibri" pitchFamily="34" charset="0"/>
                <a:ea typeface="Calibri" pitchFamily="34" charset="-122"/>
                <a:cs typeface="Calibri" pitchFamily="34" charset="-120"/>
              </a:rPr>
              <a:t>rebuilds succeeded</a:t>
            </a:r>
            <a:endParaRPr lang="en-US" sz="1300" dirty="0"/>
          </a:p>
        </p:txBody>
      </p:sp>
      <p:sp>
        <p:nvSpPr>
          <p:cNvPr id="15" name="f3-sub"/>
          <p:cNvSpPr txBox="1"/>
          <p:nvPr/>
        </p:nvSpPr>
        <p:spPr>
          <a:xfrm>
            <a:off x="576072" y="4425696"/>
            <a:ext cx="1737360" cy="274320"/>
          </a:xfrm>
          <a:prstGeom prst="rect">
            <a:avLst/>
          </a:prstGeom>
          <a:noFill/>
          <a:ln/>
        </p:spPr>
        <p:txBody>
          <a:bodyPr wrap="square" lIns="0" tIns="0" rIns="0" bIns="0" rtlCol="0" anchor="ctr"/>
          <a:lstStyle/>
          <a:p>
            <a:pPr indent="0" marL="0">
              <a:buNone/>
            </a:pPr>
            <a:r>
              <a:rPr lang="en-US" sz="1050" i="1" dirty="0">
                <a:solidFill>
                  <a:srgbClr val="6B6680"/>
                </a:solidFill>
                <a:latin typeface="Calibri" pitchFamily="34" charset="0"/>
                <a:ea typeface="Calibri" pitchFamily="34" charset="-122"/>
                <a:cs typeface="Calibri" pitchFamily="34" charset="-120"/>
              </a:rPr>
              <a:t>155 / 155 HTTP 200</a:t>
            </a:r>
            <a:endParaRPr lang="en-US" sz="1050" dirty="0"/>
          </a:p>
        </p:txBody>
      </p:sp>
      <p:graphicFrame>
        <p:nvGraphicFramePr>
          <p:cNvPr id="16" name="phase-chart" descr=""/>
          <p:cNvGraphicFramePr/>
          <p:nvPr/>
        </p:nvGraphicFramePr>
        <p:xfrm>
          <a:off x="2651760" y="1005840"/>
          <a:ext cx="6080760" cy="3703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Findings 2: Stable Across 30 Runs (Measured)</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10</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pic>
        <p:nvPicPr>
          <p:cNvPr id="4" name="run-order" descr="/Users/kaoleangseng/Downloads/devops2-assessment2-main 2/assessment2/figures/fig4_2_run_order.png">    </p:cNvPr>
          <p:cNvPicPr>
            <a:picLocks noChangeAspect="1"/>
          </p:cNvPicPr>
          <p:nvPr/>
        </p:nvPicPr>
        <p:blipFill>
          <a:blip r:embed="rId1"/>
          <a:stretch>
            <a:fillRect/>
          </a:stretch>
        </p:blipFill>
        <p:spPr>
          <a:xfrm>
            <a:off x="411480" y="960120"/>
            <a:ext cx="4937760" cy="2203704"/>
          </a:xfrm>
          <a:prstGeom prst="rect">
            <a:avLst/>
          </a:prstGeom>
        </p:spPr>
      </p:pic>
      <p:sp>
        <p:nvSpPr>
          <p:cNvPr id="5" name="Text 2"/>
          <p:cNvSpPr txBox="1"/>
          <p:nvPr/>
        </p:nvSpPr>
        <p:spPr>
          <a:xfrm>
            <a:off x="411480" y="3182112"/>
            <a:ext cx="5257800" cy="228600"/>
          </a:xfrm>
          <a:prstGeom prst="rect">
            <a:avLst/>
          </a:prstGeom>
          <a:noFill/>
          <a:ln/>
        </p:spPr>
        <p:txBody>
          <a:bodyPr wrap="square" lIns="0" tIns="0" rIns="0" bIns="0" rtlCol="0" anchor="ctr"/>
          <a:lstStyle/>
          <a:p>
            <a:pPr indent="0" marL="0">
              <a:buNone/>
            </a:pPr>
            <a:r>
              <a:rPr lang="en-US" sz="900" i="1" dirty="0">
                <a:solidFill>
                  <a:srgbClr val="6B6680"/>
                </a:solidFill>
                <a:latin typeface="Calibri" pitchFamily="34" charset="0"/>
                <a:ea typeface="Calibri" pitchFamily="34" charset="-122"/>
                <a:cs typeface="Calibri" pitchFamily="34" charset="-120"/>
              </a:rPr>
              <a:t>Blue: triggered by a push (n = 14)  ·  Orange: chained workflow_dispatch (n = 16)  ·  bands = mean ± 2 SD</a:t>
            </a:r>
            <a:endParaRPr lang="en-US" sz="900" dirty="0"/>
          </a:p>
        </p:txBody>
      </p:sp>
      <p:graphicFrame>
        <p:nvGraphicFramePr>
          <p:cNvPr id="11" name="stab"/>
          <p:cNvGraphicFramePr>
            <a:graphicFrameLocks noGrp="1"/>
          </p:cNvGraphicFramePr>
          <p:nvPr>
            <p:extLst>
              <p:ext uri="{D42A27DB-BD31-4B8C-83A1-F6EECF244321}">
                <p14:modId xmlns:p14="http://schemas.microsoft.com/office/powerpoint/2010/main" val="1579011935"/>
              </p:ext>
            </p:extLst>
          </p:nvPr>
        </p:nvGraphicFramePr>
        <p:xfrm>
          <a:off x="411480" y="3456432"/>
          <a:ext cx="5257800" cy="914400"/>
        </p:xfrm>
        <a:graphic>
          <a:graphicData uri="http://schemas.openxmlformats.org/drawingml/2006/table">
            <a:tbl>
              <a:tblPr/>
              <a:tblGrid>
                <a:gridCol w="2240280"/>
                <a:gridCol w="2194560"/>
                <a:gridCol w="822960"/>
              </a:tblGrid>
              <a:tr h="228600">
                <a:tc>
                  <a:txBody>
                    <a:bodyPr/>
                    <a:lstStyle/>
                    <a:p>
                      <a:pPr indent="0" marL="0">
                        <a:buNone/>
                      </a:pPr>
                      <a:r>
                        <a:rPr lang="en-US" sz="950" b="1" dirty="0">
                          <a:solidFill>
                            <a:srgbClr val="1E1A2B"/>
                          </a:solidFill>
                          <a:latin typeface="Calibri" pitchFamily="34" charset="0"/>
                          <a:ea typeface="Calibri" pitchFamily="34" charset="-122"/>
                          <a:cs typeface="Calibri" pitchFamily="34" charset="-120"/>
                        </a:rPr>
                        <a:t>Check (full build)</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c>
                  <a:txBody>
                    <a:bodyPr/>
                    <a:lstStyle/>
                    <a:p>
                      <a:pPr indent="0" marL="0">
                        <a:buNone/>
                      </a:pPr>
                      <a:r>
                        <a:rPr lang="en-US" sz="950" b="1" dirty="0">
                          <a:solidFill>
                            <a:srgbClr val="1E1A2B"/>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c>
                  <a:txBody>
                    <a:bodyPr/>
                    <a:lstStyle/>
                    <a:p>
                      <a:pPr indent="0" marL="0">
                        <a:buNone/>
                      </a:pPr>
                      <a:r>
                        <a:rPr lang="en-US" sz="950" b="1" dirty="0">
                          <a:solidFill>
                            <a:srgbClr val="1E1A2B"/>
                          </a:solidFill>
                          <a:latin typeface="Calibri" pitchFamily="34" charset="0"/>
                          <a:ea typeface="Calibri" pitchFamily="34" charset="-122"/>
                          <a:cs typeface="Calibri" pitchFamily="34" charset="-120"/>
                        </a:rPr>
                        <a:t>p</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r>
              <a:tr h="228600">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Trend over run order</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ρ = 0.25</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.177</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228600">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Hour of day</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ρ = -0.24</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.192</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228600">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14 Oct vs 15 Oct</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8.2 vs 8.4 min</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.124</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228600">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Push vs dispatch</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8.2 vs 8.5 min</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.019</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228600">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Push vs dispatch, total cycle</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28.4 vs 28.5 min</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950" dirty="0">
                          <a:solidFill>
                            <a:srgbClr val="1E1A2B"/>
                          </a:solidFill>
                          <a:latin typeface="Calibri" pitchFamily="34" charset="0"/>
                          <a:ea typeface="Calibri" pitchFamily="34" charset="-122"/>
                          <a:cs typeface="Calibri" pitchFamily="34" charset="-120"/>
                        </a:rPr>
                        <a:t>.747</a:t>
                      </a:r>
                      <a:endParaRPr lang="en-US" sz="950" dirty="0">
                        <a:latin typeface="Calibri" charset="0"/>
                        <a:ea typeface="Calibri" charset="0"/>
                        <a:cs typeface="Calibri" charset="0"/>
                      </a:endParaRPr>
                    </a:p>
                  </a:txBody>
                  <a:tcPr marL="63500" marR="63500" marT="25400" marB="25400">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bl>
          </a:graphicData>
        </a:graphic>
      </p:graphicFrame>
      <p:sp>
        <p:nvSpPr>
          <p:cNvPr id="7" name="stab-panel"/>
          <p:cNvSpPr/>
          <p:nvPr/>
        </p:nvSpPr>
        <p:spPr>
          <a:xfrm>
            <a:off x="5897880" y="1005840"/>
            <a:ext cx="2834640" cy="3703320"/>
          </a:xfrm>
          <a:prstGeom prst="roundRect">
            <a:avLst>
              <a:gd name="adj" fmla="val 2581"/>
            </a:avLst>
          </a:prstGeom>
          <a:solidFill>
            <a:srgbClr val="221B35"/>
          </a:solidFill>
          <a:ln w="12700">
            <a:solidFill>
              <a:srgbClr val="221B35"/>
            </a:solidFill>
            <a:prstDash val="solid"/>
          </a:ln>
        </p:spPr>
      </p:sp>
      <p:sp>
        <p:nvSpPr>
          <p:cNvPr id="8" name="stab-panel-head"/>
          <p:cNvSpPr txBox="1"/>
          <p:nvPr/>
        </p:nvSpPr>
        <p:spPr>
          <a:xfrm>
            <a:off x="6126480" y="1170432"/>
            <a:ext cx="2377440" cy="256032"/>
          </a:xfrm>
          <a:prstGeom prst="rect">
            <a:avLst/>
          </a:prstGeom>
          <a:noFill/>
          <a:ln/>
        </p:spPr>
        <p:txBody>
          <a:bodyPr wrap="square" lIns="0" tIns="0" rIns="0" bIns="0" rtlCol="0" anchor="ctr"/>
          <a:lstStyle/>
          <a:p>
            <a:pPr indent="0" marL="0">
              <a:buNone/>
            </a:pPr>
            <a:r>
              <a:rPr lang="en-US" sz="1200" b="1" dirty="0">
                <a:solidFill>
                  <a:srgbClr val="E39A3B"/>
                </a:solidFill>
                <a:latin typeface="Calibri" pitchFamily="34" charset="0"/>
                <a:ea typeface="Calibri" pitchFamily="34" charset="-122"/>
                <a:cs typeface="Calibri" pitchFamily="34" charset="-120"/>
              </a:rPr>
              <a:t>WHAT 30 RUNS ADD</a:t>
            </a:r>
            <a:endParaRPr lang="en-US" sz="1200" dirty="0"/>
          </a:p>
        </p:txBody>
      </p:sp>
      <p:sp>
        <p:nvSpPr>
          <p:cNvPr id="9" name="stab-panel-body"/>
          <p:cNvSpPr txBox="1"/>
          <p:nvPr/>
        </p:nvSpPr>
        <p:spPr>
          <a:xfrm>
            <a:off x="6126480" y="1463040"/>
            <a:ext cx="2377440" cy="31089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No trend: run 1 is the only cycle outside the band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95% CI of the build narrowed from ±15 s (10 runs) to ±8 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Chained runs built 18 s (3.7%) slower; destroy and total cycle did not differ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Likely cloud-side conditions, not the trigger: same steps, and the day effect alone was not significant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Success rate 30/30: lower 95% bound 89% (was 72% with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Findings 3: Terraform vs Manual Console</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11</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graphicFrame>
        <p:nvGraphicFramePr>
          <p:cNvPr id="4" name="h1-chart" descr=""/>
          <p:cNvGraphicFramePr/>
          <p:nvPr/>
        </p:nvGraphicFramePr>
        <p:xfrm>
          <a:off x="411480" y="1005840"/>
          <a:ext cx="3931920" cy="2651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11480" y="3749040"/>
            <a:ext cx="3931920" cy="457200"/>
          </a:xfrm>
          <a:prstGeom prst="rect">
            <a:avLst/>
          </a:prstGeom>
          <a:noFill/>
          <a:ln/>
        </p:spPr>
        <p:txBody>
          <a:bodyPr wrap="square" lIns="0" tIns="0" rIns="0" bIns="0" rtlCol="0" anchor="t"/>
          <a:lstStyle/>
          <a:p>
            <a:pPr indent="0" marL="0">
              <a:buNone/>
            </a:pPr>
            <a:r>
              <a:rPr lang="en-US" sz="1050" dirty="0">
                <a:solidFill>
                  <a:srgbClr val="1E1A2B"/>
                </a:solidFill>
                <a:latin typeface="Calibri" pitchFamily="34" charset="0"/>
                <a:ea typeface="Calibri" pitchFamily="34" charset="-122"/>
                <a:cs typeface="Calibri" pitchFamily="34" charset="-120"/>
              </a:rPr>
              <a:t>12.6× faster · Welch t(9.0) = -65.2, p &lt; .001 · rebuilds identical 30/30 vs 3/10 (Fisher p &lt; .001)</a:t>
            </a:r>
            <a:endParaRPr lang="en-US" sz="1050" dirty="0"/>
          </a:p>
        </p:txBody>
      </p:sp>
      <p:sp>
        <p:nvSpPr>
          <p:cNvPr id="6" name="Text 3"/>
          <p:cNvSpPr txBox="1"/>
          <p:nvPr/>
        </p:nvSpPr>
        <p:spPr>
          <a:xfrm>
            <a:off x="411480" y="4206240"/>
            <a:ext cx="3931920" cy="411480"/>
          </a:xfrm>
          <a:prstGeom prst="rect">
            <a:avLst/>
          </a:prstGeom>
          <a:noFill/>
          <a:ln/>
        </p:spPr>
        <p:txBody>
          <a:bodyPr wrap="square" lIns="0" tIns="0" rIns="0" bIns="0" rtlCol="0" anchor="t"/>
          <a:lstStyle/>
          <a:p>
            <a:pPr indent="0" marL="0">
              <a:buNone/>
            </a:pPr>
            <a:r>
              <a:rPr lang="en-US" sz="1000" i="1" dirty="0">
                <a:solidFill>
                  <a:srgbClr val="6B6680"/>
                </a:solidFill>
                <a:latin typeface="Calibri" pitchFamily="34" charset="0"/>
                <a:ea typeface="Calibri" pitchFamily="34" charset="-122"/>
                <a:cs typeface="Calibri" pitchFamily="34" charset="-120"/>
              </a:rPr>
              <a:t>Manual values are SIMULATED from a stated, seeded model; results hold from 20 s to 120 s per resource.</a:t>
            </a:r>
            <a:endParaRPr lang="en-US" sz="1000" dirty="0"/>
          </a:p>
        </p:txBody>
      </p:sp>
      <p:graphicFrame>
        <p:nvGraphicFramePr>
          <p:cNvPr id="12" name="hyp"/>
          <p:cNvGraphicFramePr>
            <a:graphicFrameLocks noGrp="1"/>
          </p:cNvGraphicFramePr>
          <p:nvPr>
            <p:extLst>
              <p:ext uri="{D42A27DB-BD31-4B8C-83A1-F6EECF244321}">
                <p14:modId xmlns:p14="http://schemas.microsoft.com/office/powerpoint/2010/main" val="1579011935"/>
              </p:ext>
            </p:extLst>
          </p:nvPr>
        </p:nvGraphicFramePr>
        <p:xfrm>
          <a:off x="4572000" y="1051560"/>
          <a:ext cx="4160520" cy="914400"/>
        </p:xfrm>
        <a:graphic>
          <a:graphicData uri="http://schemas.openxmlformats.org/drawingml/2006/table">
            <a:tbl>
              <a:tblPr/>
              <a:tblGrid>
                <a:gridCol w="1325880"/>
                <a:gridCol w="1737360"/>
                <a:gridCol w="1097280"/>
              </a:tblGrid>
              <a:tr h="457200">
                <a:tc>
                  <a:txBody>
                    <a:bodyPr/>
                    <a:lstStyle/>
                    <a:p>
                      <a:pPr indent="0" marL="0">
                        <a:buNone/>
                      </a:pPr>
                      <a:r>
                        <a:rPr lang="en-US" sz="1050" b="1" dirty="0">
                          <a:solidFill>
                            <a:srgbClr val="1E1A2B"/>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c>
                  <a:txBody>
                    <a:bodyPr/>
                    <a:lstStyle/>
                    <a:p>
                      <a:pPr indent="0" marL="0">
                        <a:buNone/>
                      </a:pPr>
                      <a:r>
                        <a:rPr lang="en-US" sz="1050" b="1" dirty="0">
                          <a:solidFill>
                            <a:srgbClr val="1E1A2B"/>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c>
                  <a:txBody>
                    <a:bodyPr/>
                    <a:lstStyle/>
                    <a:p>
                      <a:pPr indent="0" marL="0">
                        <a:buNone/>
                      </a:pPr>
                      <a:r>
                        <a:rPr lang="en-US" sz="1050" b="1" dirty="0">
                          <a:solidFill>
                            <a:srgbClr val="1E1A2B"/>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solidFill>
                      <a:srgbClr val="F1F0F7"/>
                    </a:solidFill>
                  </a:tcPr>
                </a:tc>
              </a:tr>
              <a:tr h="457200">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H1 Duration</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8.3 vs 105.3 min (simulated)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Supported*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457200">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H2 Drift</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Only one environment</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Not tested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457200">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H3 Reproducibility</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30/30 vs 3/10 (simulated)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Supported*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457200">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H4 Coverage &amp; review</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Coverage 0% → 79.2%; review 0 of 48</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Partially supported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r h="457200">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H5 Depth × drift</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Drift not measured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c>
                  <a:txBody>
                    <a:bodyPr/>
                    <a:lstStyle/>
                    <a:p>
                      <a:pPr indent="0" marL="0">
                        <a:buNone/>
                      </a:pPr>
                      <a:r>
                        <a:rPr lang="en-US" sz="1050" dirty="0">
                          <a:solidFill>
                            <a:srgbClr val="1E1A2B"/>
                          </a:solidFill>
                          <a:latin typeface="Calibri" pitchFamily="34" charset="0"/>
                          <a:ea typeface="Calibri" pitchFamily="34" charset="-122"/>
                          <a:cs typeface="Calibri" pitchFamily="34" charset="-120"/>
                        </a:rPr>
                        <a:t>Not tested</a:t>
                      </a:r>
                      <a:endParaRPr lang="en-US" sz="1050" dirty="0">
                        <a:latin typeface="Calibri" charset="0"/>
                        <a:ea typeface="Calibri" charset="0"/>
                        <a:cs typeface="Calibri" charset="0"/>
                      </a:endParaRPr>
                    </a:p>
                  </a:txBody>
                  <a:tcPr marL="91440" marR="91440" marT="45720" marB="45720" anchor="ctr">
                    <a:lnL w="6350" cap="flat" cmpd="sng" algn="ctr">
                      <a:solidFill>
                        <a:srgbClr val="D9D6E5"/>
                      </a:solidFill>
                      <a:prstDash val="solid"/>
                      <a:round/>
                      <a:headEnd type="none" w="med" len="med"/>
                      <a:tailEnd type="none" w="med" len="med"/>
                    </a:lnL>
                    <a:lnR w="6350" cap="flat" cmpd="sng" algn="ctr">
                      <a:solidFill>
                        <a:srgbClr val="D9D6E5"/>
                      </a:solidFill>
                      <a:prstDash val="solid"/>
                      <a:round/>
                      <a:headEnd type="none" w="med" len="med"/>
                      <a:tailEnd type="none" w="med" len="med"/>
                    </a:lnR>
                    <a:lnT w="6350" cap="flat" cmpd="sng" algn="ctr">
                      <a:solidFill>
                        <a:srgbClr val="D9D6E5"/>
                      </a:solidFill>
                      <a:prstDash val="solid"/>
                      <a:round/>
                      <a:headEnd type="none" w="med" len="med"/>
                      <a:tailEnd type="none" w="med" len="med"/>
                    </a:lnT>
                    <a:lnB w="6350" cap="flat" cmpd="sng" algn="ctr">
                      <a:solidFill>
                        <a:srgbClr val="D9D6E5"/>
                      </a:solidFill>
                      <a:prstDash val="solid"/>
                      <a:round/>
                      <a:headEnd type="none" w="med" len="med"/>
                      <a:tailEnd type="none" w="med" len="med"/>
                    </a:lnB>
                  </a:tcPr>
                </a:tc>
              </a:tr>
            </a:tbl>
          </a:graphicData>
        </a:graphic>
      </p:graphicFrame>
      <p:sp>
        <p:nvSpPr>
          <p:cNvPr id="8" name="Text 4"/>
          <p:cNvSpPr txBox="1"/>
          <p:nvPr/>
        </p:nvSpPr>
        <p:spPr>
          <a:xfrm>
            <a:off x="4572000" y="3977640"/>
            <a:ext cx="4160520" cy="274320"/>
          </a:xfrm>
          <a:prstGeom prst="rect">
            <a:avLst/>
          </a:prstGeom>
          <a:noFill/>
          <a:ln/>
        </p:spPr>
        <p:txBody>
          <a:bodyPr wrap="square" lIns="0" tIns="0" rIns="0" bIns="0" rtlCol="0" anchor="ctr"/>
          <a:lstStyle/>
          <a:p>
            <a:pPr indent="0" marL="0">
              <a:buNone/>
            </a:pPr>
            <a:r>
              <a:rPr lang="en-US" sz="1000" i="1" dirty="0">
                <a:solidFill>
                  <a:srgbClr val="6B6680"/>
                </a:solidFill>
                <a:latin typeface="Calibri" pitchFamily="34" charset="0"/>
                <a:ea typeface="Calibri" pitchFamily="34" charset="-122"/>
                <a:cs typeface="Calibri" pitchFamily="34" charset="-120"/>
              </a:rPr>
              <a:t>* conditional on the simulated manual condition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Findings 4: Why It Was Hard (RQ4)</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12</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t0"/>
          <p:cNvSpPr/>
          <p:nvPr/>
        </p:nvSpPr>
        <p:spPr>
          <a:xfrm>
            <a:off x="411480" y="1097280"/>
            <a:ext cx="4069080" cy="1508760"/>
          </a:xfrm>
          <a:prstGeom prst="roundRect">
            <a:avLst>
              <a:gd name="adj" fmla="val 4848"/>
            </a:avLst>
          </a:prstGeom>
          <a:solidFill>
            <a:srgbClr val="F1F0F7"/>
          </a:solidFill>
          <a:ln w="12700">
            <a:solidFill>
              <a:srgbClr val="F1F0F7"/>
            </a:solidFill>
            <a:prstDash val="solid"/>
          </a:ln>
        </p:spPr>
      </p:sp>
      <p:sp>
        <p:nvSpPr>
          <p:cNvPr id="5" name="td0"/>
          <p:cNvSpPr/>
          <p:nvPr/>
        </p:nvSpPr>
        <p:spPr>
          <a:xfrm>
            <a:off x="612648" y="1298448"/>
            <a:ext cx="310896" cy="310896"/>
          </a:xfrm>
          <a:prstGeom prst="ellipse">
            <a:avLst/>
          </a:prstGeom>
          <a:solidFill>
            <a:srgbClr val="6A4FA0"/>
          </a:solidFill>
          <a:ln w="12700">
            <a:solidFill>
              <a:srgbClr val="6A4FA0"/>
            </a:solidFill>
            <a:prstDash val="solid"/>
          </a:ln>
        </p:spPr>
      </p:sp>
      <p:sp>
        <p:nvSpPr>
          <p:cNvPr id="6" name="td0-n"/>
          <p:cNvSpPr txBox="1"/>
          <p:nvPr/>
        </p:nvSpPr>
        <p:spPr>
          <a:xfrm>
            <a:off x="612648" y="12984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51560" y="1280160"/>
            <a:ext cx="3246120" cy="502920"/>
          </a:xfrm>
          <a:prstGeom prst="rect">
            <a:avLst/>
          </a:prstGeom>
          <a:noFill/>
          <a:ln/>
        </p:spPr>
        <p:txBody>
          <a:bodyPr wrap="square" lIns="0" tIns="0" rIns="0" bIns="0" rtlCol="0" anchor="t"/>
          <a:lstStyle/>
          <a:p>
            <a:pPr indent="0" marL="0">
              <a:buNone/>
            </a:pPr>
            <a:r>
              <a:rPr lang="en-US" sz="1400" b="1" dirty="0">
                <a:solidFill>
                  <a:srgbClr val="1E1A2B"/>
                </a:solidFill>
                <a:latin typeface="Calibri" pitchFamily="34" charset="0"/>
                <a:ea typeface="Calibri" pitchFamily="34" charset="-122"/>
                <a:cs typeface="Calibri" pitchFamily="34" charset="-120"/>
              </a:rPr>
              <a:t>The architecture was found by rebuilding it</a:t>
            </a:r>
            <a:endParaRPr lang="en-US" sz="1400" dirty="0"/>
          </a:p>
        </p:txBody>
      </p:sp>
      <p:sp>
        <p:nvSpPr>
          <p:cNvPr id="8" name="Text 6"/>
          <p:cNvSpPr txBox="1"/>
          <p:nvPr/>
        </p:nvSpPr>
        <p:spPr>
          <a:xfrm>
            <a:off x="1051560" y="1828800"/>
            <a:ext cx="3246120" cy="68580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Per-service load balancers and gateways merged in stages; easy because it was code</a:t>
            </a:r>
            <a:endParaRPr lang="en-US" sz="1150" dirty="0"/>
          </a:p>
        </p:txBody>
      </p:sp>
      <p:sp>
        <p:nvSpPr>
          <p:cNvPr id="9" name="t1"/>
          <p:cNvSpPr/>
          <p:nvPr/>
        </p:nvSpPr>
        <p:spPr>
          <a:xfrm>
            <a:off x="4663440" y="1097280"/>
            <a:ext cx="4069080" cy="1508760"/>
          </a:xfrm>
          <a:prstGeom prst="roundRect">
            <a:avLst>
              <a:gd name="adj" fmla="val 4848"/>
            </a:avLst>
          </a:prstGeom>
          <a:solidFill>
            <a:srgbClr val="F1F0F7"/>
          </a:solidFill>
          <a:ln w="12700">
            <a:solidFill>
              <a:srgbClr val="F1F0F7"/>
            </a:solidFill>
            <a:prstDash val="solid"/>
          </a:ln>
        </p:spPr>
      </p:sp>
      <p:sp>
        <p:nvSpPr>
          <p:cNvPr id="10" name="td1"/>
          <p:cNvSpPr/>
          <p:nvPr/>
        </p:nvSpPr>
        <p:spPr>
          <a:xfrm>
            <a:off x="4864608" y="1298448"/>
            <a:ext cx="310896" cy="310896"/>
          </a:xfrm>
          <a:prstGeom prst="ellipse">
            <a:avLst/>
          </a:prstGeom>
          <a:solidFill>
            <a:srgbClr val="6A4FA0"/>
          </a:solidFill>
          <a:ln w="12700">
            <a:solidFill>
              <a:srgbClr val="6A4FA0"/>
            </a:solidFill>
            <a:prstDash val="solid"/>
          </a:ln>
        </p:spPr>
      </p:sp>
      <p:sp>
        <p:nvSpPr>
          <p:cNvPr id="11" name="td1-n"/>
          <p:cNvSpPr txBox="1"/>
          <p:nvPr/>
        </p:nvSpPr>
        <p:spPr>
          <a:xfrm>
            <a:off x="4864608" y="12984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5303520" y="1280160"/>
            <a:ext cx="3246120" cy="502920"/>
          </a:xfrm>
          <a:prstGeom prst="rect">
            <a:avLst/>
          </a:prstGeom>
          <a:noFill/>
          <a:ln/>
        </p:spPr>
        <p:txBody>
          <a:bodyPr wrap="square" lIns="0" tIns="0" rIns="0" bIns="0" rtlCol="0" anchor="t"/>
          <a:lstStyle/>
          <a:p>
            <a:pPr indent="0" marL="0">
              <a:buNone/>
            </a:pPr>
            <a:r>
              <a:rPr lang="en-US" sz="1400" b="1" dirty="0">
                <a:solidFill>
                  <a:srgbClr val="1E1A2B"/>
                </a:solidFill>
                <a:latin typeface="Calibri" pitchFamily="34" charset="0"/>
                <a:ea typeface="Calibri" pitchFamily="34" charset="-122"/>
                <a:cs typeface="Calibri" pitchFamily="34" charset="-120"/>
              </a:rPr>
              <a:t>State is the hardest part</a:t>
            </a:r>
            <a:endParaRPr lang="en-US" sz="1400" dirty="0"/>
          </a:p>
        </p:txBody>
      </p:sp>
      <p:sp>
        <p:nvSpPr>
          <p:cNvPr id="13" name="Text 11"/>
          <p:cNvSpPr txBox="1"/>
          <p:nvPr/>
        </p:nvSpPr>
        <p:spPr>
          <a:xfrm>
            <a:off x="5303520" y="1828800"/>
            <a:ext cx="3246120" cy="68580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State files in Git; the bucket that holds state can't hold its own; rebuild built around it</a:t>
            </a:r>
            <a:endParaRPr lang="en-US" sz="1150" dirty="0"/>
          </a:p>
        </p:txBody>
      </p:sp>
      <p:sp>
        <p:nvSpPr>
          <p:cNvPr id="14" name="t2"/>
          <p:cNvSpPr/>
          <p:nvPr/>
        </p:nvSpPr>
        <p:spPr>
          <a:xfrm>
            <a:off x="411480" y="2788920"/>
            <a:ext cx="4069080" cy="1508760"/>
          </a:xfrm>
          <a:prstGeom prst="roundRect">
            <a:avLst>
              <a:gd name="adj" fmla="val 4848"/>
            </a:avLst>
          </a:prstGeom>
          <a:solidFill>
            <a:srgbClr val="F1F0F7"/>
          </a:solidFill>
          <a:ln w="12700">
            <a:solidFill>
              <a:srgbClr val="F1F0F7"/>
            </a:solidFill>
            <a:prstDash val="solid"/>
          </a:ln>
        </p:spPr>
      </p:sp>
      <p:sp>
        <p:nvSpPr>
          <p:cNvPr id="15" name="td2"/>
          <p:cNvSpPr/>
          <p:nvPr/>
        </p:nvSpPr>
        <p:spPr>
          <a:xfrm>
            <a:off x="612648" y="2990088"/>
            <a:ext cx="310896" cy="310896"/>
          </a:xfrm>
          <a:prstGeom prst="ellipse">
            <a:avLst/>
          </a:prstGeom>
          <a:solidFill>
            <a:srgbClr val="6A4FA0"/>
          </a:solidFill>
          <a:ln w="12700">
            <a:solidFill>
              <a:srgbClr val="6A4FA0"/>
            </a:solidFill>
            <a:prstDash val="solid"/>
          </a:ln>
        </p:spPr>
      </p:sp>
      <p:sp>
        <p:nvSpPr>
          <p:cNvPr id="16" name="td2-n"/>
          <p:cNvSpPr txBox="1"/>
          <p:nvPr/>
        </p:nvSpPr>
        <p:spPr>
          <a:xfrm>
            <a:off x="612648" y="2990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051560" y="2971800"/>
            <a:ext cx="3246120" cy="502920"/>
          </a:xfrm>
          <a:prstGeom prst="rect">
            <a:avLst/>
          </a:prstGeom>
          <a:noFill/>
          <a:ln/>
        </p:spPr>
        <p:txBody>
          <a:bodyPr wrap="square" lIns="0" tIns="0" rIns="0" bIns="0" rtlCol="0" anchor="t"/>
          <a:lstStyle/>
          <a:p>
            <a:pPr indent="0" marL="0">
              <a:buNone/>
            </a:pPr>
            <a:r>
              <a:rPr lang="en-US" sz="1400" b="1" dirty="0">
                <a:solidFill>
                  <a:srgbClr val="1E1A2B"/>
                </a:solidFill>
                <a:latin typeface="Calibri" pitchFamily="34" charset="0"/>
                <a:ea typeface="Calibri" pitchFamily="34" charset="-122"/>
                <a:cs typeface="Calibri" pitchFamily="34" charset="-120"/>
              </a:rPr>
              <a:t>Destruction, not creation, is the bottleneck</a:t>
            </a:r>
            <a:endParaRPr lang="en-US" sz="1400" dirty="0"/>
          </a:p>
        </p:txBody>
      </p:sp>
      <p:sp>
        <p:nvSpPr>
          <p:cNvPr id="18" name="Text 16"/>
          <p:cNvSpPr txBox="1"/>
          <p:nvPr/>
        </p:nvSpPr>
        <p:spPr>
          <a:xfrm>
            <a:off x="1051560" y="3520440"/>
            <a:ext cx="3246120" cy="68580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Destroying the five service stacks takes 18.2 minutes, one after another</a:t>
            </a:r>
            <a:endParaRPr lang="en-US" sz="1150" dirty="0"/>
          </a:p>
        </p:txBody>
      </p:sp>
      <p:sp>
        <p:nvSpPr>
          <p:cNvPr id="19" name="t3"/>
          <p:cNvSpPr/>
          <p:nvPr/>
        </p:nvSpPr>
        <p:spPr>
          <a:xfrm>
            <a:off x="4663440" y="2788920"/>
            <a:ext cx="4069080" cy="1508760"/>
          </a:xfrm>
          <a:prstGeom prst="roundRect">
            <a:avLst>
              <a:gd name="adj" fmla="val 4848"/>
            </a:avLst>
          </a:prstGeom>
          <a:solidFill>
            <a:srgbClr val="F1F0F7"/>
          </a:solidFill>
          <a:ln w="12700">
            <a:solidFill>
              <a:srgbClr val="F1F0F7"/>
            </a:solidFill>
            <a:prstDash val="solid"/>
          </a:ln>
        </p:spPr>
      </p:sp>
      <p:sp>
        <p:nvSpPr>
          <p:cNvPr id="20" name="td3"/>
          <p:cNvSpPr/>
          <p:nvPr/>
        </p:nvSpPr>
        <p:spPr>
          <a:xfrm>
            <a:off x="4864608" y="2990088"/>
            <a:ext cx="310896" cy="310896"/>
          </a:xfrm>
          <a:prstGeom prst="ellipse">
            <a:avLst/>
          </a:prstGeom>
          <a:solidFill>
            <a:srgbClr val="6A4FA0"/>
          </a:solidFill>
          <a:ln w="12700">
            <a:solidFill>
              <a:srgbClr val="6A4FA0"/>
            </a:solidFill>
            <a:prstDash val="solid"/>
          </a:ln>
        </p:spPr>
      </p:sp>
      <p:sp>
        <p:nvSpPr>
          <p:cNvPr id="21" name="td3-n"/>
          <p:cNvSpPr txBox="1"/>
          <p:nvPr/>
        </p:nvSpPr>
        <p:spPr>
          <a:xfrm>
            <a:off x="4864608" y="29900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5303520" y="2971800"/>
            <a:ext cx="3246120" cy="502920"/>
          </a:xfrm>
          <a:prstGeom prst="rect">
            <a:avLst/>
          </a:prstGeom>
          <a:noFill/>
          <a:ln/>
        </p:spPr>
        <p:txBody>
          <a:bodyPr wrap="square" lIns="0" tIns="0" rIns="0" bIns="0" rtlCol="0" anchor="t"/>
          <a:lstStyle/>
          <a:p>
            <a:pPr indent="0" marL="0">
              <a:buNone/>
            </a:pPr>
            <a:r>
              <a:rPr lang="en-US" sz="1400" b="1" dirty="0">
                <a:solidFill>
                  <a:srgbClr val="1E1A2B"/>
                </a:solidFill>
                <a:latin typeface="Calibri" pitchFamily="34" charset="0"/>
                <a:ea typeface="Calibri" pitchFamily="34" charset="-122"/>
                <a:cs typeface="Calibri" pitchFamily="34" charset="-120"/>
              </a:rPr>
              <a:t>Version control without review</a:t>
            </a:r>
            <a:endParaRPr lang="en-US" sz="1400" dirty="0"/>
          </a:p>
        </p:txBody>
      </p:sp>
      <p:sp>
        <p:nvSpPr>
          <p:cNvPr id="23" name="Text 21"/>
          <p:cNvSpPr txBox="1"/>
          <p:nvPr/>
        </p:nvSpPr>
        <p:spPr>
          <a:xfrm>
            <a:off x="5303520" y="3520440"/>
            <a:ext cx="3246120" cy="685800"/>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48 direct commits, none reviewed; 15 only edited a script to start a run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Main Contributions and Recommendations</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13</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con-dot0"/>
          <p:cNvSpPr/>
          <p:nvPr/>
        </p:nvSpPr>
        <p:spPr>
          <a:xfrm>
            <a:off x="411480" y="1124712"/>
            <a:ext cx="310896" cy="310896"/>
          </a:xfrm>
          <a:prstGeom prst="ellipse">
            <a:avLst/>
          </a:prstGeom>
          <a:solidFill>
            <a:srgbClr val="6A4FA0"/>
          </a:solidFill>
          <a:ln w="12700">
            <a:solidFill>
              <a:srgbClr val="6A4FA0"/>
            </a:solidFill>
            <a:prstDash val="solid"/>
          </a:ln>
        </p:spPr>
      </p:sp>
      <p:sp>
        <p:nvSpPr>
          <p:cNvPr id="5" name="con-dot0-n"/>
          <p:cNvSpPr txBox="1"/>
          <p:nvPr/>
        </p:nvSpPr>
        <p:spPr>
          <a:xfrm>
            <a:off x="411480" y="11247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con-h0"/>
          <p:cNvSpPr txBox="1"/>
          <p:nvPr/>
        </p:nvSpPr>
        <p:spPr>
          <a:xfrm>
            <a:off x="850392" y="1097280"/>
            <a:ext cx="393192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Theoretical</a:t>
            </a:r>
            <a:endParaRPr lang="en-US" sz="1400" dirty="0"/>
          </a:p>
        </p:txBody>
      </p:sp>
      <p:sp>
        <p:nvSpPr>
          <p:cNvPr id="7" name="con-s0"/>
          <p:cNvSpPr txBox="1"/>
          <p:nvPr/>
        </p:nvSpPr>
        <p:spPr>
          <a:xfrm>
            <a:off x="850392" y="1344168"/>
            <a:ext cx="393192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Code and review are separable: coverage reached 79% while review stayed at 0%</a:t>
            </a:r>
            <a:endParaRPr lang="en-US" sz="1150" dirty="0"/>
          </a:p>
        </p:txBody>
      </p:sp>
      <p:sp>
        <p:nvSpPr>
          <p:cNvPr id="8" name="con-dot1"/>
          <p:cNvSpPr/>
          <p:nvPr/>
        </p:nvSpPr>
        <p:spPr>
          <a:xfrm>
            <a:off x="411480" y="1965960"/>
            <a:ext cx="310896" cy="310896"/>
          </a:xfrm>
          <a:prstGeom prst="ellipse">
            <a:avLst/>
          </a:prstGeom>
          <a:solidFill>
            <a:srgbClr val="6A4FA0"/>
          </a:solidFill>
          <a:ln w="12700">
            <a:solidFill>
              <a:srgbClr val="6A4FA0"/>
            </a:solidFill>
            <a:prstDash val="solid"/>
          </a:ln>
        </p:spPr>
      </p:sp>
      <p:sp>
        <p:nvSpPr>
          <p:cNvPr id="9" name="con-dot1-n"/>
          <p:cNvSpPr txBox="1"/>
          <p:nvPr/>
        </p:nvSpPr>
        <p:spPr>
          <a:xfrm>
            <a:off x="411480" y="1965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con-h1"/>
          <p:cNvSpPr txBox="1"/>
          <p:nvPr/>
        </p:nvSpPr>
        <p:spPr>
          <a:xfrm>
            <a:off x="850392" y="1938528"/>
            <a:ext cx="393192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Practical</a:t>
            </a:r>
            <a:endParaRPr lang="en-US" sz="1400" dirty="0"/>
          </a:p>
        </p:txBody>
      </p:sp>
      <p:sp>
        <p:nvSpPr>
          <p:cNvPr id="11" name="con-s1"/>
          <p:cNvSpPr txBox="1"/>
          <p:nvPr/>
        </p:nvSpPr>
        <p:spPr>
          <a:xfrm>
            <a:off x="850392" y="2185416"/>
            <a:ext cx="393192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Reusable modules and rebuild procedure; measured 8.3 min to build, 20.1 min to remove, over 30 runs</a:t>
            </a:r>
            <a:endParaRPr lang="en-US" sz="1150" dirty="0"/>
          </a:p>
        </p:txBody>
      </p:sp>
      <p:sp>
        <p:nvSpPr>
          <p:cNvPr id="12" name="con-dot2"/>
          <p:cNvSpPr/>
          <p:nvPr/>
        </p:nvSpPr>
        <p:spPr>
          <a:xfrm>
            <a:off x="411480" y="2807208"/>
            <a:ext cx="310896" cy="310896"/>
          </a:xfrm>
          <a:prstGeom prst="ellipse">
            <a:avLst/>
          </a:prstGeom>
          <a:solidFill>
            <a:srgbClr val="6A4FA0"/>
          </a:solidFill>
          <a:ln w="12700">
            <a:solidFill>
              <a:srgbClr val="6A4FA0"/>
            </a:solidFill>
            <a:prstDash val="solid"/>
          </a:ln>
        </p:spPr>
      </p:sp>
      <p:sp>
        <p:nvSpPr>
          <p:cNvPr id="13" name="con-dot2-n"/>
          <p:cNvSpPr txBox="1"/>
          <p:nvPr/>
        </p:nvSpPr>
        <p:spPr>
          <a:xfrm>
            <a:off x="411480" y="2807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con-h2"/>
          <p:cNvSpPr txBox="1"/>
          <p:nvPr/>
        </p:nvSpPr>
        <p:spPr>
          <a:xfrm>
            <a:off x="850392" y="2779776"/>
            <a:ext cx="393192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Methodological</a:t>
            </a:r>
            <a:endParaRPr lang="en-US" sz="1400" dirty="0"/>
          </a:p>
        </p:txBody>
      </p:sp>
      <p:sp>
        <p:nvSpPr>
          <p:cNvPr id="15" name="con-s2"/>
          <p:cNvSpPr txBox="1"/>
          <p:nvPr/>
        </p:nvSpPr>
        <p:spPr>
          <a:xfrm>
            <a:off x="850392" y="3026664"/>
            <a:ext cx="393192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Mixed methods on an engineering artefact, using the commit history as qualitative data</a:t>
            </a:r>
            <a:endParaRPr lang="en-US" sz="1150" dirty="0"/>
          </a:p>
        </p:txBody>
      </p:sp>
      <p:sp>
        <p:nvSpPr>
          <p:cNvPr id="16" name="con-dot3"/>
          <p:cNvSpPr/>
          <p:nvPr/>
        </p:nvSpPr>
        <p:spPr>
          <a:xfrm>
            <a:off x="411480" y="3648456"/>
            <a:ext cx="310896" cy="310896"/>
          </a:xfrm>
          <a:prstGeom prst="ellipse">
            <a:avLst/>
          </a:prstGeom>
          <a:solidFill>
            <a:srgbClr val="6A4FA0"/>
          </a:solidFill>
          <a:ln w="12700">
            <a:solidFill>
              <a:srgbClr val="6A4FA0"/>
            </a:solidFill>
            <a:prstDash val="solid"/>
          </a:ln>
        </p:spPr>
      </p:sp>
      <p:sp>
        <p:nvSpPr>
          <p:cNvPr id="17" name="con-dot3-n"/>
          <p:cNvSpPr txBox="1"/>
          <p:nvPr/>
        </p:nvSpPr>
        <p:spPr>
          <a:xfrm>
            <a:off x="411480" y="364845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con-h3"/>
          <p:cNvSpPr txBox="1"/>
          <p:nvPr/>
        </p:nvSpPr>
        <p:spPr>
          <a:xfrm>
            <a:off x="850392" y="3621024"/>
            <a:ext cx="3931920" cy="246888"/>
          </a:xfrm>
          <a:prstGeom prst="rect">
            <a:avLst/>
          </a:prstGeom>
          <a:noFill/>
          <a:ln/>
        </p:spPr>
        <p:txBody>
          <a:bodyPr wrap="square" lIns="0" tIns="0" rIns="0" bIns="0" rtlCol="0" anchor="ctr"/>
          <a:lstStyle/>
          <a:p>
            <a:pPr indent="0" marL="0">
              <a:buNone/>
            </a:pPr>
            <a:r>
              <a:rPr lang="en-US" sz="1400" b="1" dirty="0">
                <a:solidFill>
                  <a:srgbClr val="1E1A2B"/>
                </a:solidFill>
                <a:latin typeface="Calibri" pitchFamily="34" charset="0"/>
                <a:ea typeface="Calibri" pitchFamily="34" charset="-122"/>
                <a:cs typeface="Calibri" pitchFamily="34" charset="-120"/>
              </a:rPr>
              <a:t>Policy</a:t>
            </a:r>
            <a:endParaRPr lang="en-US" sz="1400" dirty="0"/>
          </a:p>
        </p:txBody>
      </p:sp>
      <p:sp>
        <p:nvSpPr>
          <p:cNvPr id="19" name="con-s3"/>
          <p:cNvSpPr txBox="1"/>
          <p:nvPr/>
        </p:nvSpPr>
        <p:spPr>
          <a:xfrm>
            <a:off x="850392" y="3867912"/>
            <a:ext cx="3931920" cy="384048"/>
          </a:xfrm>
          <a:prstGeom prst="rect">
            <a:avLst/>
          </a:prstGeom>
          <a:noFill/>
          <a:ln/>
        </p:spPr>
        <p:txBody>
          <a:bodyPr wrap="square" lIns="0" tIns="0" rIns="0" bIns="0" rtlCol="0" anchor="t"/>
          <a:lstStyle/>
          <a:p>
            <a:pPr indent="0" marL="0">
              <a:buNone/>
            </a:pPr>
            <a:r>
              <a:rPr lang="en-US" sz="1150" dirty="0">
                <a:solidFill>
                  <a:srgbClr val="6B6680"/>
                </a:solidFill>
                <a:latin typeface="Calibri" pitchFamily="34" charset="0"/>
                <a:ea typeface="Calibri" pitchFamily="34" charset="-122"/>
                <a:cs typeface="Calibri" pitchFamily="34" charset="-120"/>
              </a:rPr>
              <a:t>For regulated Cambodian institutions, require a code history and a review record</a:t>
            </a:r>
            <a:endParaRPr lang="en-US" sz="1150" dirty="0"/>
          </a:p>
        </p:txBody>
      </p:sp>
      <p:sp>
        <p:nvSpPr>
          <p:cNvPr id="20" name="rec"/>
          <p:cNvSpPr/>
          <p:nvPr/>
        </p:nvSpPr>
        <p:spPr>
          <a:xfrm>
            <a:off x="4983480" y="1097280"/>
            <a:ext cx="3749040" cy="3520440"/>
          </a:xfrm>
          <a:prstGeom prst="roundRect">
            <a:avLst>
              <a:gd name="adj" fmla="val 2078"/>
            </a:avLst>
          </a:prstGeom>
          <a:solidFill>
            <a:srgbClr val="221B35"/>
          </a:solidFill>
          <a:ln w="12700">
            <a:solidFill>
              <a:srgbClr val="221B35"/>
            </a:solidFill>
            <a:prstDash val="solid"/>
          </a:ln>
        </p:spPr>
      </p:sp>
      <p:sp>
        <p:nvSpPr>
          <p:cNvPr id="21" name="rec-head"/>
          <p:cNvSpPr txBox="1"/>
          <p:nvPr/>
        </p:nvSpPr>
        <p:spPr>
          <a:xfrm>
            <a:off x="5212080" y="1261872"/>
            <a:ext cx="3291840" cy="256032"/>
          </a:xfrm>
          <a:prstGeom prst="rect">
            <a:avLst/>
          </a:prstGeom>
          <a:noFill/>
          <a:ln/>
        </p:spPr>
        <p:txBody>
          <a:bodyPr wrap="square" lIns="0" tIns="0" rIns="0" bIns="0" rtlCol="0" anchor="ctr"/>
          <a:lstStyle/>
          <a:p>
            <a:pPr indent="0" marL="0">
              <a:buNone/>
            </a:pPr>
            <a:r>
              <a:rPr lang="en-US" sz="1200" b="1" dirty="0">
                <a:solidFill>
                  <a:srgbClr val="E39A3B"/>
                </a:solidFill>
                <a:latin typeface="Calibri" pitchFamily="34" charset="0"/>
                <a:ea typeface="Calibri" pitchFamily="34" charset="-122"/>
                <a:cs typeface="Calibri" pitchFamily="34" charset="-120"/>
              </a:rPr>
              <a:t>TOP RECOMMENDATIONS</a:t>
            </a:r>
            <a:endParaRPr lang="en-US" sz="1200" dirty="0"/>
          </a:p>
        </p:txBody>
      </p:sp>
      <p:sp>
        <p:nvSpPr>
          <p:cNvPr id="22" name="rec-body"/>
          <p:cNvSpPr txBox="1"/>
          <p:nvPr/>
        </p:nvSpPr>
        <p:spPr>
          <a:xfrm>
            <a:off x="5212080" y="1554480"/>
            <a:ext cx="329184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Plan on pull request; approve before apply; protect main</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Short-lived OIDC credentials instead of access keys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Destroy service stacks in parallel</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Create the state bucket once, outside the rebuild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Pin provider versions and commit the lock file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Codify TLS, WAF and DNS; keep two environments with drift checks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Research Timeline</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14</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axis"/>
          <p:cNvSpPr/>
          <p:nvPr/>
        </p:nvSpPr>
        <p:spPr>
          <a:xfrm>
            <a:off x="731520" y="2331720"/>
            <a:ext cx="7680960" cy="0"/>
          </a:xfrm>
          <a:prstGeom prst="line">
            <a:avLst/>
          </a:prstGeom>
          <a:noFill/>
          <a:ln w="25400">
            <a:solidFill>
              <a:srgbClr val="C9C2E0"/>
            </a:solidFill>
            <a:prstDash val="solid"/>
          </a:ln>
        </p:spPr>
      </p:sp>
      <p:sp>
        <p:nvSpPr>
          <p:cNvPr id="5" name="tl0"/>
          <p:cNvSpPr/>
          <p:nvPr/>
        </p:nvSpPr>
        <p:spPr>
          <a:xfrm>
            <a:off x="594360" y="2176272"/>
            <a:ext cx="310896" cy="310896"/>
          </a:xfrm>
          <a:prstGeom prst="ellipse">
            <a:avLst/>
          </a:prstGeom>
          <a:solidFill>
            <a:srgbClr val="6A4FA0"/>
          </a:solidFill>
          <a:ln w="12700">
            <a:solidFill>
              <a:srgbClr val="6A4FA0"/>
            </a:solidFill>
            <a:prstDash val="solid"/>
          </a:ln>
        </p:spPr>
      </p:sp>
      <p:sp>
        <p:nvSpPr>
          <p:cNvPr id="6" name="tl0-n"/>
          <p:cNvSpPr txBox="1"/>
          <p:nvPr/>
        </p:nvSpPr>
        <p:spPr>
          <a:xfrm>
            <a:off x="594360"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411480" y="1417320"/>
            <a:ext cx="155448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Dec 2025</a:t>
            </a:r>
            <a:endParaRPr lang="en-US" sz="1300" dirty="0"/>
          </a:p>
        </p:txBody>
      </p:sp>
      <p:sp>
        <p:nvSpPr>
          <p:cNvPr id="8" name="Text 6"/>
          <p:cNvSpPr txBox="1"/>
          <p:nvPr/>
        </p:nvSpPr>
        <p:spPr>
          <a:xfrm>
            <a:off x="411480" y="1719072"/>
            <a:ext cx="1554480" cy="274320"/>
          </a:xfrm>
          <a:prstGeom prst="rect">
            <a:avLst/>
          </a:prstGeom>
          <a:noFill/>
          <a:ln/>
        </p:spPr>
        <p:txBody>
          <a:bodyPr wrap="square" lIns="0" tIns="0" rIns="0" bIns="0" rtlCol="0" anchor="ctr"/>
          <a:lstStyle/>
          <a:p>
            <a:pPr indent="0" marL="0">
              <a:buNone/>
            </a:pPr>
            <a:r>
              <a:rPr lang="en-US" sz="1100" b="1" dirty="0">
                <a:solidFill>
                  <a:srgbClr val="E39A3B"/>
                </a:solidFill>
                <a:latin typeface="Calibri" pitchFamily="34" charset="0"/>
                <a:ea typeface="Calibri" pitchFamily="34" charset="-122"/>
                <a:cs typeface="Calibri" pitchFamily="34" charset="-120"/>
              </a:rPr>
              <a:t>Build</a:t>
            </a:r>
            <a:endParaRPr lang="en-US" sz="1100" dirty="0"/>
          </a:p>
        </p:txBody>
      </p:sp>
      <p:sp>
        <p:nvSpPr>
          <p:cNvPr id="9" name="Text 7"/>
          <p:cNvSpPr txBox="1"/>
          <p:nvPr/>
        </p:nvSpPr>
        <p:spPr>
          <a:xfrm>
            <a:off x="411480" y="2697480"/>
            <a:ext cx="1554480" cy="914400"/>
          </a:xfrm>
          <a:prstGeom prst="rect">
            <a:avLst/>
          </a:prstGeom>
          <a:noFill/>
          <a:ln/>
        </p:spPr>
        <p:txBody>
          <a:bodyPr wrap="square" lIns="0" tIns="0" rIns="0" bIns="0" rtlCol="0" anchor="t"/>
          <a:lstStyle/>
          <a:p>
            <a:pPr indent="0" marL="0">
              <a:buNone/>
            </a:pPr>
            <a:r>
              <a:rPr lang="en-US" sz="1150" dirty="0">
                <a:solidFill>
                  <a:srgbClr val="1E1A2B"/>
                </a:solidFill>
                <a:latin typeface="Calibri" pitchFamily="34" charset="0"/>
                <a:ea typeface="Calibri" pitchFamily="34" charset="-122"/>
                <a:cs typeface="Calibri" pitchFamily="34" charset="-120"/>
              </a:rPr>
              <a:t>Terraform modules; shared ALB and API Gateway</a:t>
            </a:r>
            <a:endParaRPr lang="en-US" sz="1150" dirty="0"/>
          </a:p>
        </p:txBody>
      </p:sp>
      <p:sp>
        <p:nvSpPr>
          <p:cNvPr id="10" name="tl1"/>
          <p:cNvSpPr/>
          <p:nvPr/>
        </p:nvSpPr>
        <p:spPr>
          <a:xfrm>
            <a:off x="2276856" y="2176272"/>
            <a:ext cx="310896" cy="310896"/>
          </a:xfrm>
          <a:prstGeom prst="ellipse">
            <a:avLst/>
          </a:prstGeom>
          <a:solidFill>
            <a:srgbClr val="6A4FA0"/>
          </a:solidFill>
          <a:ln w="12700">
            <a:solidFill>
              <a:srgbClr val="6A4FA0"/>
            </a:solidFill>
            <a:prstDash val="solid"/>
          </a:ln>
        </p:spPr>
      </p:sp>
      <p:sp>
        <p:nvSpPr>
          <p:cNvPr id="11" name="tl1-n"/>
          <p:cNvSpPr txBox="1"/>
          <p:nvPr/>
        </p:nvSpPr>
        <p:spPr>
          <a:xfrm>
            <a:off x="2276856"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2093976" y="1417320"/>
            <a:ext cx="155448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Aug 2026</a:t>
            </a:r>
            <a:endParaRPr lang="en-US" sz="1300" dirty="0"/>
          </a:p>
        </p:txBody>
      </p:sp>
      <p:sp>
        <p:nvSpPr>
          <p:cNvPr id="13" name="Text 11"/>
          <p:cNvSpPr txBox="1"/>
          <p:nvPr/>
        </p:nvSpPr>
        <p:spPr>
          <a:xfrm>
            <a:off x="2093976" y="1719072"/>
            <a:ext cx="1554480" cy="274320"/>
          </a:xfrm>
          <a:prstGeom prst="rect">
            <a:avLst/>
          </a:prstGeom>
          <a:noFill/>
          <a:ln/>
        </p:spPr>
        <p:txBody>
          <a:bodyPr wrap="square" lIns="0" tIns="0" rIns="0" bIns="0" rtlCol="0" anchor="ctr"/>
          <a:lstStyle/>
          <a:p>
            <a:pPr indent="0" marL="0">
              <a:buNone/>
            </a:pPr>
            <a:r>
              <a:rPr lang="en-US" sz="1100" b="1" dirty="0">
                <a:solidFill>
                  <a:srgbClr val="E39A3B"/>
                </a:solidFill>
                <a:latin typeface="Calibri" pitchFamily="34" charset="0"/>
                <a:ea typeface="Calibri" pitchFamily="34" charset="-122"/>
                <a:cs typeface="Calibri" pitchFamily="34" charset="-120"/>
              </a:rPr>
              <a:t>Proposal</a:t>
            </a:r>
            <a:endParaRPr lang="en-US" sz="1100" dirty="0"/>
          </a:p>
        </p:txBody>
      </p:sp>
      <p:sp>
        <p:nvSpPr>
          <p:cNvPr id="14" name="Text 12"/>
          <p:cNvSpPr txBox="1"/>
          <p:nvPr/>
        </p:nvSpPr>
        <p:spPr>
          <a:xfrm>
            <a:off x="2093976" y="2697480"/>
            <a:ext cx="1554480" cy="914400"/>
          </a:xfrm>
          <a:prstGeom prst="rect">
            <a:avLst/>
          </a:prstGeom>
          <a:noFill/>
          <a:ln/>
        </p:spPr>
        <p:txBody>
          <a:bodyPr wrap="square" lIns="0" tIns="0" rIns="0" bIns="0" rtlCol="0" anchor="t"/>
          <a:lstStyle/>
          <a:p>
            <a:pPr indent="0" marL="0">
              <a:buNone/>
            </a:pPr>
            <a:r>
              <a:rPr lang="en-US" sz="1150" dirty="0">
                <a:solidFill>
                  <a:srgbClr val="1E1A2B"/>
                </a:solidFill>
                <a:latin typeface="Calibri" pitchFamily="34" charset="0"/>
                <a:ea typeface="Calibri" pitchFamily="34" charset="-122"/>
                <a:cs typeface="Calibri" pitchFamily="34" charset="-120"/>
              </a:rPr>
              <a:t>Chapters 1–3 (Assessment 1)</a:t>
            </a:r>
            <a:endParaRPr lang="en-US" sz="1150" dirty="0"/>
          </a:p>
        </p:txBody>
      </p:sp>
      <p:sp>
        <p:nvSpPr>
          <p:cNvPr id="15" name="tl2"/>
          <p:cNvSpPr/>
          <p:nvPr/>
        </p:nvSpPr>
        <p:spPr>
          <a:xfrm>
            <a:off x="3959352" y="2176272"/>
            <a:ext cx="310896" cy="310896"/>
          </a:xfrm>
          <a:prstGeom prst="ellipse">
            <a:avLst/>
          </a:prstGeom>
          <a:solidFill>
            <a:srgbClr val="6A4FA0"/>
          </a:solidFill>
          <a:ln w="12700">
            <a:solidFill>
              <a:srgbClr val="6A4FA0"/>
            </a:solidFill>
            <a:prstDash val="solid"/>
          </a:ln>
        </p:spPr>
      </p:sp>
      <p:sp>
        <p:nvSpPr>
          <p:cNvPr id="16" name="tl2-n"/>
          <p:cNvSpPr txBox="1"/>
          <p:nvPr/>
        </p:nvSpPr>
        <p:spPr>
          <a:xfrm>
            <a:off x="3959352"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3776472" y="1417320"/>
            <a:ext cx="155448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14 Oct 2026</a:t>
            </a:r>
            <a:endParaRPr lang="en-US" sz="1300" dirty="0"/>
          </a:p>
        </p:txBody>
      </p:sp>
      <p:sp>
        <p:nvSpPr>
          <p:cNvPr id="18" name="Text 16"/>
          <p:cNvSpPr txBox="1"/>
          <p:nvPr/>
        </p:nvSpPr>
        <p:spPr>
          <a:xfrm>
            <a:off x="3776472" y="1719072"/>
            <a:ext cx="1554480" cy="274320"/>
          </a:xfrm>
          <a:prstGeom prst="rect">
            <a:avLst/>
          </a:prstGeom>
          <a:noFill/>
          <a:ln/>
        </p:spPr>
        <p:txBody>
          <a:bodyPr wrap="square" lIns="0" tIns="0" rIns="0" bIns="0" rtlCol="0" anchor="ctr"/>
          <a:lstStyle/>
          <a:p>
            <a:pPr indent="0" marL="0">
              <a:buNone/>
            </a:pPr>
            <a:r>
              <a:rPr lang="en-US" sz="1100" b="1" dirty="0">
                <a:solidFill>
                  <a:srgbClr val="E39A3B"/>
                </a:solidFill>
                <a:latin typeface="Calibri" pitchFamily="34" charset="0"/>
                <a:ea typeface="Calibri" pitchFamily="34" charset="-122"/>
                <a:cs typeface="Calibri" pitchFamily="34" charset="-120"/>
              </a:rPr>
              <a:t>Build + Phase 1</a:t>
            </a:r>
            <a:endParaRPr lang="en-US" sz="1100" dirty="0"/>
          </a:p>
        </p:txBody>
      </p:sp>
      <p:sp>
        <p:nvSpPr>
          <p:cNvPr id="19" name="Text 17"/>
          <p:cNvSpPr txBox="1"/>
          <p:nvPr/>
        </p:nvSpPr>
        <p:spPr>
          <a:xfrm>
            <a:off x="3776472" y="2697480"/>
            <a:ext cx="1554480" cy="914400"/>
          </a:xfrm>
          <a:prstGeom prst="rect">
            <a:avLst/>
          </a:prstGeom>
          <a:noFill/>
          <a:ln/>
        </p:spPr>
        <p:txBody>
          <a:bodyPr wrap="square" lIns="0" tIns="0" rIns="0" bIns="0" rtlCol="0" anchor="t"/>
          <a:lstStyle/>
          <a:p>
            <a:pPr indent="0" marL="0">
              <a:buNone/>
            </a:pPr>
            <a:r>
              <a:rPr lang="en-US" sz="1150" dirty="0">
                <a:solidFill>
                  <a:srgbClr val="1E1A2B"/>
                </a:solidFill>
                <a:latin typeface="Calibri" pitchFamily="34" charset="0"/>
                <a:ea typeface="Calibri" pitchFamily="34" charset="-122"/>
                <a:cs typeface="Calibri" pitchFamily="34" charset="-120"/>
              </a:rPr>
              <a:t>Pipeline; 10 rebuilds and 1 redeploy (push)</a:t>
            </a:r>
            <a:endParaRPr lang="en-US" sz="1150" dirty="0"/>
          </a:p>
        </p:txBody>
      </p:sp>
      <p:sp>
        <p:nvSpPr>
          <p:cNvPr id="20" name="tl3"/>
          <p:cNvSpPr/>
          <p:nvPr/>
        </p:nvSpPr>
        <p:spPr>
          <a:xfrm>
            <a:off x="5641848" y="2176272"/>
            <a:ext cx="310896" cy="310896"/>
          </a:xfrm>
          <a:prstGeom prst="ellipse">
            <a:avLst/>
          </a:prstGeom>
          <a:solidFill>
            <a:srgbClr val="6A4FA0"/>
          </a:solidFill>
          <a:ln w="12700">
            <a:solidFill>
              <a:srgbClr val="6A4FA0"/>
            </a:solidFill>
            <a:prstDash val="solid"/>
          </a:ln>
        </p:spPr>
      </p:sp>
      <p:sp>
        <p:nvSpPr>
          <p:cNvPr id="21" name="tl3-n"/>
          <p:cNvSpPr txBox="1"/>
          <p:nvPr/>
        </p:nvSpPr>
        <p:spPr>
          <a:xfrm>
            <a:off x="5641848"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5458968" y="1417320"/>
            <a:ext cx="155448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15 Oct 2026</a:t>
            </a:r>
            <a:endParaRPr lang="en-US" sz="1300" dirty="0"/>
          </a:p>
        </p:txBody>
      </p:sp>
      <p:sp>
        <p:nvSpPr>
          <p:cNvPr id="23" name="Text 21"/>
          <p:cNvSpPr txBox="1"/>
          <p:nvPr/>
        </p:nvSpPr>
        <p:spPr>
          <a:xfrm>
            <a:off x="5458968" y="1719072"/>
            <a:ext cx="1554480" cy="274320"/>
          </a:xfrm>
          <a:prstGeom prst="rect">
            <a:avLst/>
          </a:prstGeom>
          <a:noFill/>
          <a:ln/>
        </p:spPr>
        <p:txBody>
          <a:bodyPr wrap="square" lIns="0" tIns="0" rIns="0" bIns="0" rtlCol="0" anchor="ctr"/>
          <a:lstStyle/>
          <a:p>
            <a:pPr indent="0" marL="0">
              <a:buNone/>
            </a:pPr>
            <a:r>
              <a:rPr lang="en-US" sz="1100" b="1" dirty="0">
                <a:solidFill>
                  <a:srgbClr val="E39A3B"/>
                </a:solidFill>
                <a:latin typeface="Calibri" pitchFamily="34" charset="0"/>
                <a:ea typeface="Calibri" pitchFamily="34" charset="-122"/>
                <a:cs typeface="Calibri" pitchFamily="34" charset="-120"/>
              </a:rPr>
              <a:t>Phase 1</a:t>
            </a:r>
            <a:endParaRPr lang="en-US" sz="1100" dirty="0"/>
          </a:p>
        </p:txBody>
      </p:sp>
      <p:sp>
        <p:nvSpPr>
          <p:cNvPr id="24" name="Text 22"/>
          <p:cNvSpPr txBox="1"/>
          <p:nvPr/>
        </p:nvSpPr>
        <p:spPr>
          <a:xfrm>
            <a:off x="5458968" y="2697480"/>
            <a:ext cx="1554480" cy="914400"/>
          </a:xfrm>
          <a:prstGeom prst="rect">
            <a:avLst/>
          </a:prstGeom>
          <a:noFill/>
          <a:ln/>
        </p:spPr>
        <p:txBody>
          <a:bodyPr wrap="square" lIns="0" tIns="0" rIns="0" bIns="0" rtlCol="0" anchor="t"/>
          <a:lstStyle/>
          <a:p>
            <a:pPr indent="0" marL="0">
              <a:buNone/>
            </a:pPr>
            <a:r>
              <a:rPr lang="en-US" sz="1150" dirty="0">
                <a:solidFill>
                  <a:srgbClr val="1E1A2B"/>
                </a:solidFill>
                <a:latin typeface="Calibri" pitchFamily="34" charset="0"/>
                <a:ea typeface="Calibri" pitchFamily="34" charset="-122"/>
                <a:cs typeface="Calibri" pitchFamily="34" charset="-120"/>
              </a:rPr>
              <a:t>20 rebuilds: 4 push, 16 chained</a:t>
            </a:r>
            <a:endParaRPr lang="en-US" sz="1150" dirty="0"/>
          </a:p>
        </p:txBody>
      </p:sp>
      <p:sp>
        <p:nvSpPr>
          <p:cNvPr id="25" name="tl4"/>
          <p:cNvSpPr/>
          <p:nvPr/>
        </p:nvSpPr>
        <p:spPr>
          <a:xfrm>
            <a:off x="7324344" y="2176272"/>
            <a:ext cx="310896" cy="310896"/>
          </a:xfrm>
          <a:prstGeom prst="ellipse">
            <a:avLst/>
          </a:prstGeom>
          <a:solidFill>
            <a:srgbClr val="6A4FA0"/>
          </a:solidFill>
          <a:ln w="12700">
            <a:solidFill>
              <a:srgbClr val="6A4FA0"/>
            </a:solidFill>
            <a:prstDash val="solid"/>
          </a:ln>
        </p:spPr>
      </p:sp>
      <p:sp>
        <p:nvSpPr>
          <p:cNvPr id="26" name="tl4-n"/>
          <p:cNvSpPr txBox="1"/>
          <p:nvPr/>
        </p:nvSpPr>
        <p:spPr>
          <a:xfrm>
            <a:off x="7324344" y="21762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7141464" y="1417320"/>
            <a:ext cx="1554480" cy="274320"/>
          </a:xfrm>
          <a:prstGeom prst="rect">
            <a:avLst/>
          </a:prstGeom>
          <a:noFill/>
          <a:ln/>
        </p:spPr>
        <p:txBody>
          <a:bodyPr wrap="square" lIns="0" tIns="0" rIns="0" bIns="0" rtlCol="0" anchor="ctr"/>
          <a:lstStyle/>
          <a:p>
            <a:pPr indent="0" marL="0">
              <a:buNone/>
            </a:pPr>
            <a:r>
              <a:rPr lang="en-US" sz="1300" b="1" dirty="0">
                <a:solidFill>
                  <a:srgbClr val="6A4FA0"/>
                </a:solidFill>
                <a:latin typeface="Calibri" pitchFamily="34" charset="0"/>
                <a:ea typeface="Calibri" pitchFamily="34" charset="-122"/>
                <a:cs typeface="Calibri" pitchFamily="34" charset="-120"/>
              </a:rPr>
              <a:t>Oct 2026</a:t>
            </a:r>
            <a:endParaRPr lang="en-US" sz="1300" dirty="0"/>
          </a:p>
        </p:txBody>
      </p:sp>
      <p:sp>
        <p:nvSpPr>
          <p:cNvPr id="28" name="Text 26"/>
          <p:cNvSpPr txBox="1"/>
          <p:nvPr/>
        </p:nvSpPr>
        <p:spPr>
          <a:xfrm>
            <a:off x="7141464" y="1719072"/>
            <a:ext cx="1554480" cy="274320"/>
          </a:xfrm>
          <a:prstGeom prst="rect">
            <a:avLst/>
          </a:prstGeom>
          <a:noFill/>
          <a:ln/>
        </p:spPr>
        <p:txBody>
          <a:bodyPr wrap="square" lIns="0" tIns="0" rIns="0" bIns="0" rtlCol="0" anchor="ctr"/>
          <a:lstStyle/>
          <a:p>
            <a:pPr indent="0" marL="0">
              <a:buNone/>
            </a:pPr>
            <a:r>
              <a:rPr lang="en-US" sz="1100" b="1" dirty="0">
                <a:solidFill>
                  <a:srgbClr val="E39A3B"/>
                </a:solidFill>
                <a:latin typeface="Calibri" pitchFamily="34" charset="0"/>
                <a:ea typeface="Calibri" pitchFamily="34" charset="-122"/>
                <a:cs typeface="Calibri" pitchFamily="34" charset="-120"/>
              </a:rPr>
              <a:t>Phases 2–3</a:t>
            </a:r>
            <a:endParaRPr lang="en-US" sz="1100" dirty="0"/>
          </a:p>
        </p:txBody>
      </p:sp>
      <p:sp>
        <p:nvSpPr>
          <p:cNvPr id="29" name="Text 27"/>
          <p:cNvSpPr txBox="1"/>
          <p:nvPr/>
        </p:nvSpPr>
        <p:spPr>
          <a:xfrm>
            <a:off x="7141464" y="2697480"/>
            <a:ext cx="1554480" cy="914400"/>
          </a:xfrm>
          <a:prstGeom prst="rect">
            <a:avLst/>
          </a:prstGeom>
          <a:noFill/>
          <a:ln/>
        </p:spPr>
        <p:txBody>
          <a:bodyPr wrap="square" lIns="0" tIns="0" rIns="0" bIns="0" rtlCol="0" anchor="t"/>
          <a:lstStyle/>
          <a:p>
            <a:pPr indent="0" marL="0">
              <a:buNone/>
            </a:pPr>
            <a:r>
              <a:rPr lang="en-US" sz="1150" dirty="0">
                <a:solidFill>
                  <a:srgbClr val="1E1A2B"/>
                </a:solidFill>
                <a:latin typeface="Calibri" pitchFamily="34" charset="0"/>
                <a:ea typeface="Calibri" pitchFamily="34" charset="-122"/>
                <a:cs typeface="Calibri" pitchFamily="34" charset="-120"/>
              </a:rPr>
              <a:t>Analysis, themes, joint display, writing</a:t>
            </a:r>
            <a:endParaRPr lang="en-US" sz="1150" dirty="0"/>
          </a:p>
        </p:txBody>
      </p:sp>
      <p:sp>
        <p:nvSpPr>
          <p:cNvPr id="30" name="Text 28"/>
          <p:cNvSpPr txBox="1"/>
          <p:nvPr/>
        </p:nvSpPr>
        <p:spPr>
          <a:xfrm>
            <a:off x="411480" y="4114800"/>
            <a:ext cx="8321040" cy="320040"/>
          </a:xfrm>
          <a:prstGeom prst="rect">
            <a:avLst/>
          </a:prstGeom>
          <a:noFill/>
          <a:ln/>
        </p:spPr>
        <p:txBody>
          <a:bodyPr wrap="square" lIns="0" tIns="0" rIns="0" bIns="0" rtlCol="0" anchor="ctr"/>
          <a:lstStyle/>
          <a:p>
            <a:pPr indent="0" marL="0">
              <a:buNone/>
            </a:pPr>
            <a:r>
              <a:rPr lang="en-US" sz="1100" i="1" dirty="0">
                <a:solidFill>
                  <a:srgbClr val="6B6680"/>
                </a:solidFill>
                <a:latin typeface="Calibri" pitchFamily="34" charset="0"/>
                <a:ea typeface="Calibri" pitchFamily="34" charset="-122"/>
                <a:cs typeface="Calibri" pitchFamily="34" charset="-120"/>
              </a:rPr>
              <a:t>The proposal planned 12 weeks from July to September 2026; measurement slipped to October 2026, when all 30 planned cycles were run in two days.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384048"/>
            <a:ext cx="8321040" cy="566928"/>
          </a:xfrm>
          <a:prstGeom prst="rect">
            <a:avLst/>
          </a:prstGeom>
          <a:noFill/>
          <a:ln/>
        </p:spPr>
        <p:txBody>
          <a:bodyPr wrap="square" lIns="0" tIns="0" rIns="0" bIns="0" rtlCol="0" anchor="ctr"/>
          <a:lstStyle/>
          <a:p>
            <a:pPr algn="l" indent="0" marL="0">
              <a:buNone/>
            </a:pPr>
            <a:r>
              <a:rPr lang="en-US" sz="2800" b="1" dirty="0">
                <a:solidFill>
                  <a:srgbClr val="221B35"/>
                </a:solidFill>
                <a:latin typeface="Cambria" pitchFamily="34" charset="0"/>
                <a:ea typeface="Cambria" pitchFamily="34" charset="-122"/>
                <a:cs typeface="Cambria" pitchFamily="34" charset="-120"/>
              </a:rPr>
              <a:t>References</a:t>
            </a:r>
            <a:endParaRPr lang="en-US" sz="2800" dirty="0"/>
          </a:p>
        </p:txBody>
      </p:sp>
      <p:sp>
        <p:nvSpPr>
          <p:cNvPr id="3" name="page"/>
          <p:cNvSpPr txBox="1"/>
          <p:nvPr/>
        </p:nvSpPr>
        <p:spPr>
          <a:xfrm>
            <a:off x="411480" y="164592"/>
            <a:ext cx="1371600" cy="228600"/>
          </a:xfrm>
          <a:prstGeom prst="rect">
            <a:avLst/>
          </a:prstGeom>
          <a:noFill/>
          <a:ln/>
        </p:spPr>
        <p:txBody>
          <a:bodyPr wrap="square" lIns="0" tIns="0" rIns="0" bIns="0" rtlCol="0" anchor="ctr"/>
          <a:lstStyle/>
          <a:p>
            <a:pPr indent="0" marL="0">
              <a:buNone/>
            </a:pPr>
            <a:r>
              <a:rPr lang="en-US" sz="1000" b="1" dirty="0">
                <a:solidFill>
                  <a:srgbClr val="E39A3B"/>
                </a:solidFill>
                <a:latin typeface="Calibri" pitchFamily="34" charset="0"/>
                <a:ea typeface="Calibri" pitchFamily="34" charset="-122"/>
                <a:cs typeface="Calibri" pitchFamily="34" charset="-120"/>
              </a:rPr>
              <a:t>15</a:t>
            </a:r>
            <a:pPr indent="0" marL="0">
              <a:buNone/>
            </a:pPr>
            <a:r>
              <a:rPr lang="en-US" sz="1000" dirty="0">
                <a:solidFill>
                  <a:srgbClr val="6B6680"/>
                </a:solidFill>
                <a:latin typeface="Calibri" pitchFamily="34" charset="0"/>
                <a:ea typeface="Calibri" pitchFamily="34" charset="-122"/>
                <a:cs typeface="Calibri" pitchFamily="34" charset="-120"/>
              </a:rPr>
              <a:t>  /  15</a:t>
            </a:r>
            <a:endParaRPr lang="en-US" sz="1000" dirty="0"/>
          </a:p>
        </p:txBody>
      </p:sp>
      <p:sp>
        <p:nvSpPr>
          <p:cNvPr id="4" name="Text 2"/>
          <p:cNvSpPr txBox="1"/>
          <p:nvPr/>
        </p:nvSpPr>
        <p:spPr>
          <a:xfrm>
            <a:off x="411480" y="1024128"/>
            <a:ext cx="8321040" cy="3749040"/>
          </a:xfrm>
          <a:prstGeom prst="rect">
            <a:avLst/>
          </a:prstGeom>
          <a:noFill/>
          <a:ln/>
        </p:spPr>
        <p:txBody>
          <a:bodyPr wrap="square" lIns="0" tIns="0" rIns="0" bIns="0" rtlCol="0" anchor="t"/>
          <a:lstStyle/>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Begoug, M., Ouni, A., &amp; Chouchen, M. (2025). How do infrastructure-as-code practitioners update their dependencies? MSR 2025, 642–653. https://doi.org/10.1109/MSR66628.2025.00100</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Braun, V., &amp; Clarke, V. (2021). One size fits all? Qualitative Research in Psychology, 18(3), 328–352. https://doi.org/10.1080/14780887.2020.1769238</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Creswell, J. W., &amp; Plano Clark, V. L. (2018). Designing and conducting mixed methods research (3rd ed.). SAGE.</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Decan, A., Mens, T., Rostami Mazrae, P., &amp; Golzadeh, M. (2022). On the use of GitHub Actions in software development repositories. ICSME 2022, 235–245. https://doi.org/10.1109/ICSME55016.2022.00029</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Hilton, M., et al. (2016). Usage, costs, and benefits of continuous integration in open-source projects. ASE 2016, 426–437. https://doi.org/10.1145/2970276.2970358</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Rahman, A., Farhana, E., Parnin, C., &amp; Williams, L. (2020). Gang of eight: A defect taxonomy for infrastructure as code scripts. ICSE 2020, 752–764. https://doi.org/10.1145/3377811.3380409</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Regvart, D., Vlahović, I., &amp; Balković, M. (2026). A controlled comparative evaluation of infrastructure as code tools. Applied Sciences, 16(6), 2971. https://doi.org/10.3390/app16062971</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Rostami Mazrae, P., Mens, T., Golzadeh, M., &amp; Decan, A. (2023). On the usage, co-usage and migration of CI/CD tools. Empirical Software Engineering, 28(2), 52. https://doi.org/10.1007/s10664-022-10285-5</a:t>
            </a:r>
            <a:endParaRPr lang="en-US" sz="950" dirty="0"/>
          </a:p>
          <a:p>
            <a:pPr indent="0" marL="0">
              <a:spcAft>
                <a:spcPts val="400"/>
              </a:spcAft>
              <a:buNone/>
            </a:pPr>
            <a:r>
              <a:rPr lang="en-US" sz="950" dirty="0">
                <a:solidFill>
                  <a:srgbClr val="1E1A2B"/>
                </a:solidFill>
                <a:latin typeface="Calibri" pitchFamily="34" charset="0"/>
                <a:ea typeface="Calibri" pitchFamily="34" charset="-122"/>
                <a:cs typeface="Calibri" pitchFamily="34" charset="-120"/>
              </a:rPr>
              <a:t>Verdet, A., Hamdaqa, M., Da Silva, L., &amp; Khomh, F. (2025). Assessing the adoption of security policies by developers in Terraform. Empirical Software Engineering, 30(3), 74. https://doi.org/10.1007/s10664-024-10610-0</a:t>
            </a:r>
            <a:endParaRPr lang="en-US" sz="950" dirty="0"/>
          </a:p>
          <a:p>
            <a:pPr indent="0" marL="0">
              <a:spcAft>
                <a:spcPts val="400"/>
              </a:spcAft>
              <a:buNone/>
            </a:pPr>
            <a:r>
              <a:rPr lang="en-US" sz="950" i="1" dirty="0">
                <a:solidFill>
                  <a:srgbClr val="6B6680"/>
                </a:solidFill>
                <a:latin typeface="Calibri" pitchFamily="34" charset="0"/>
                <a:ea typeface="Calibri" pitchFamily="34" charset="-122"/>
                <a:cs typeface="Calibri" pitchFamily="34" charset="-120"/>
              </a:rPr>
              <a:t>Full list of 44 references (APA 7th) in the dissertation.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the Effectiveness of Terraform and GitHub Actions for AWS Infrastructure Automation</dc:title>
  <dc:subject>PptxGenJS Presentation</dc:subject>
  <dc:creator>KAO LEANGSENG</dc:creator>
  <cp:lastModifiedBy>KAO LEANGSENG</cp:lastModifiedBy>
  <cp:revision>1</cp:revision>
  <dcterms:created xsi:type="dcterms:W3CDTF">2026-10-15T16:42:50Z</dcterms:created>
  <dcterms:modified xsi:type="dcterms:W3CDTF">2026-10-15T16:42:50Z</dcterms:modified>
</cp:coreProperties>
</file>